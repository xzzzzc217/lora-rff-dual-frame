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sldIdLst>
    <p:sldId id="256" r:id="rId4"/>
    <p:sldId id="264" r:id="rId5"/>
    <p:sldId id="257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  <a:endParaRPr lang="zh-CN" altLang="en-US" dirty="0"/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  <a:endParaRPr lang="zh-CN" altLang="en-US" dirty="0"/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6" Type="http://schemas.openxmlformats.org/officeDocument/2006/relationships/notesSlide" Target="../notesSlides/notesSlide5.xml"/><Relationship Id="rId35" Type="http://schemas.openxmlformats.org/officeDocument/2006/relationships/slideLayout" Target="../slideLayouts/slideLayout20.xml"/><Relationship Id="rId34" Type="http://schemas.openxmlformats.org/officeDocument/2006/relationships/tags" Target="../tags/tag100.xml"/><Relationship Id="rId33" Type="http://schemas.openxmlformats.org/officeDocument/2006/relationships/tags" Target="../tags/tag99.xml"/><Relationship Id="rId32" Type="http://schemas.openxmlformats.org/officeDocument/2006/relationships/tags" Target="../tags/tag98.xml"/><Relationship Id="rId31" Type="http://schemas.openxmlformats.org/officeDocument/2006/relationships/tags" Target="../tags/tag97.xml"/><Relationship Id="rId30" Type="http://schemas.openxmlformats.org/officeDocument/2006/relationships/tags" Target="../tags/tag96.xml"/><Relationship Id="rId3" Type="http://schemas.openxmlformats.org/officeDocument/2006/relationships/tags" Target="../tags/tag69.xml"/><Relationship Id="rId29" Type="http://schemas.openxmlformats.org/officeDocument/2006/relationships/tags" Target="../tags/tag95.xml"/><Relationship Id="rId28" Type="http://schemas.openxmlformats.org/officeDocument/2006/relationships/tags" Target="../tags/tag94.xml"/><Relationship Id="rId27" Type="http://schemas.openxmlformats.org/officeDocument/2006/relationships/tags" Target="../tags/tag93.xml"/><Relationship Id="rId26" Type="http://schemas.openxmlformats.org/officeDocument/2006/relationships/tags" Target="../tags/tag92.xml"/><Relationship Id="rId25" Type="http://schemas.openxmlformats.org/officeDocument/2006/relationships/tags" Target="../tags/tag91.xml"/><Relationship Id="rId24" Type="http://schemas.openxmlformats.org/officeDocument/2006/relationships/tags" Target="../tags/tag90.xml"/><Relationship Id="rId23" Type="http://schemas.openxmlformats.org/officeDocument/2006/relationships/tags" Target="../tags/tag89.xml"/><Relationship Id="rId22" Type="http://schemas.openxmlformats.org/officeDocument/2006/relationships/tags" Target="../tags/tag88.xml"/><Relationship Id="rId21" Type="http://schemas.openxmlformats.org/officeDocument/2006/relationships/tags" Target="../tags/tag87.xml"/><Relationship Id="rId20" Type="http://schemas.openxmlformats.org/officeDocument/2006/relationships/tags" Target="../tags/tag86.xml"/><Relationship Id="rId2" Type="http://schemas.openxmlformats.org/officeDocument/2006/relationships/tags" Target="../tags/tag68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3" Type="http://schemas.openxmlformats.org/officeDocument/2006/relationships/notesSlide" Target="../notesSlides/notesSlide6.xml"/><Relationship Id="rId42" Type="http://schemas.openxmlformats.org/officeDocument/2006/relationships/slideLayout" Target="../slideLayouts/slideLayout20.xml"/><Relationship Id="rId41" Type="http://schemas.openxmlformats.org/officeDocument/2006/relationships/tags" Target="../tags/tag140.xml"/><Relationship Id="rId40" Type="http://schemas.openxmlformats.org/officeDocument/2006/relationships/tags" Target="../tags/tag139.xml"/><Relationship Id="rId4" Type="http://schemas.openxmlformats.org/officeDocument/2006/relationships/tags" Target="../tags/tag104.xml"/><Relationship Id="rId39" Type="http://schemas.openxmlformats.org/officeDocument/2006/relationships/tags" Target="../tags/tag138.xml"/><Relationship Id="rId38" Type="http://schemas.openxmlformats.org/officeDocument/2006/relationships/tags" Target="../tags/tag137.xml"/><Relationship Id="rId37" Type="http://schemas.openxmlformats.org/officeDocument/2006/relationships/tags" Target="../tags/tag136.xml"/><Relationship Id="rId36" Type="http://schemas.openxmlformats.org/officeDocument/2006/relationships/tags" Target="../tags/tag135.xml"/><Relationship Id="rId35" Type="http://schemas.openxmlformats.org/officeDocument/2006/relationships/tags" Target="../tags/tag134.xml"/><Relationship Id="rId34" Type="http://schemas.openxmlformats.org/officeDocument/2006/relationships/tags" Target="../tags/tag133.xml"/><Relationship Id="rId33" Type="http://schemas.openxmlformats.org/officeDocument/2006/relationships/tags" Target="../tags/tag132.xml"/><Relationship Id="rId32" Type="http://schemas.openxmlformats.org/officeDocument/2006/relationships/tags" Target="../tags/tag131.xml"/><Relationship Id="rId31" Type="http://schemas.openxmlformats.org/officeDocument/2006/relationships/image" Target="../media/image4.png"/><Relationship Id="rId30" Type="http://schemas.openxmlformats.org/officeDocument/2006/relationships/tags" Target="../tags/tag130.xml"/><Relationship Id="rId3" Type="http://schemas.openxmlformats.org/officeDocument/2006/relationships/tags" Target="../tags/tag103.xml"/><Relationship Id="rId29" Type="http://schemas.openxmlformats.org/officeDocument/2006/relationships/tags" Target="../tags/tag129.xml"/><Relationship Id="rId28" Type="http://schemas.openxmlformats.org/officeDocument/2006/relationships/tags" Target="../tags/tag128.xml"/><Relationship Id="rId27" Type="http://schemas.openxmlformats.org/officeDocument/2006/relationships/tags" Target="../tags/tag127.xml"/><Relationship Id="rId26" Type="http://schemas.openxmlformats.org/officeDocument/2006/relationships/tags" Target="../tags/tag126.xml"/><Relationship Id="rId25" Type="http://schemas.openxmlformats.org/officeDocument/2006/relationships/tags" Target="../tags/tag125.xml"/><Relationship Id="rId24" Type="http://schemas.openxmlformats.org/officeDocument/2006/relationships/tags" Target="../tags/tag124.xml"/><Relationship Id="rId23" Type="http://schemas.openxmlformats.org/officeDocument/2006/relationships/tags" Target="../tags/tag123.xml"/><Relationship Id="rId22" Type="http://schemas.openxmlformats.org/officeDocument/2006/relationships/tags" Target="../tags/tag122.xml"/><Relationship Id="rId21" Type="http://schemas.openxmlformats.org/officeDocument/2006/relationships/tags" Target="../tags/tag121.xml"/><Relationship Id="rId20" Type="http://schemas.openxmlformats.org/officeDocument/2006/relationships/tags" Target="../tags/tag120.xml"/><Relationship Id="rId2" Type="http://schemas.openxmlformats.org/officeDocument/2006/relationships/tags" Target="../tags/tag102.xml"/><Relationship Id="rId19" Type="http://schemas.openxmlformats.org/officeDocument/2006/relationships/tags" Target="../tags/tag119.xml"/><Relationship Id="rId18" Type="http://schemas.openxmlformats.org/officeDocument/2006/relationships/tags" Target="../tags/tag118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tags" Target="../tags/tag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4826105" y="5522594"/>
            <a:ext cx="2539790" cy="1941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979110" y="4457084"/>
            <a:ext cx="2539790" cy="237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60400" y="4457084"/>
            <a:ext cx="2539790" cy="237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1216933" y="347251"/>
            <a:ext cx="8920029" cy="399415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实验验证→图示✪</a:t>
            </a:r>
            <a:r>
              <a:rPr lang="en-US" altLang="zh-CN" dirty="0">
                <a:ea typeface="+mn-ea"/>
                <a:cs typeface="+mn-ea"/>
              </a:rPr>
              <a:t>18✪</a:t>
            </a:r>
            <a:r>
              <a:rPr lang="zh-CN" altLang="en-US" dirty="0">
                <a:ea typeface="+mn-ea"/>
                <a:cs typeface="+mn-ea"/>
              </a:rPr>
              <a:t>主要</a:t>
            </a:r>
            <a:r>
              <a:rPr lang="zh-CN" altLang="en-US" dirty="0">
                <a:ea typeface="+mn-ea"/>
                <a:cs typeface="+mn-ea"/>
              </a:rPr>
              <a:t>流程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4257029"/>
            <a:ext cx="2350174" cy="3987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硬件准备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" y="4657139"/>
            <a:ext cx="3181726" cy="117030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已完成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18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台型号为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RA01-SC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、搭载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LLCC68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芯片的设备实验和测试工作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151207" y="858208"/>
            <a:ext cx="3889586" cy="3889578"/>
          </a:xfrm>
          <a:prstGeom prst="ellipse">
            <a:avLst/>
          </a:prstGeom>
          <a:noFill/>
          <a:ln w="19050" cmpd="sng"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79000">
                  <a:schemeClr val="bg1">
                    <a:lumMod val="50000"/>
                  </a:schemeClr>
                </a:gs>
                <a:gs pos="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  <a:scene3d>
            <a:camera prst="perspectiveRelaxedModerately" fov="4200000"/>
            <a:lightRig rig="threePt" dir="t">
              <a:rot lat="0" lon="0" rev="1200000"/>
            </a:lightRig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 rot="465899">
            <a:off x="3101734" y="3675409"/>
            <a:ext cx="945614" cy="685125"/>
            <a:chOff x="3317535" y="3859530"/>
            <a:chExt cx="945614" cy="685125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3367432" y="3909427"/>
              <a:ext cx="845820" cy="58533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4163355" y="3859530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317535" y="4444861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4932370" y="5316632"/>
            <a:ext cx="232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模型选择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52595" y="5716905"/>
            <a:ext cx="3788410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dirty="0">
                <a:ea typeface="+mn-ea"/>
                <a:cs typeface="+mn-ea"/>
              </a:rPr>
              <a:t>对</a:t>
            </a:r>
            <a:r>
              <a:rPr lang="en-US" altLang="zh-CN" dirty="0">
                <a:ea typeface="+mn-ea"/>
                <a:cs typeface="+mn-ea"/>
              </a:rPr>
              <a:t>Diff-ADF</a:t>
            </a:r>
            <a:r>
              <a:rPr lang="zh-CN" altLang="en-US" dirty="0">
                <a:ea typeface="+mn-ea"/>
                <a:cs typeface="+mn-ea"/>
              </a:rPr>
              <a:t>和模型基于深度学习的可扩展且信道鲁棒的无线射频指纹识别模型（</a:t>
            </a:r>
            <a:r>
              <a:rPr lang="en-US" altLang="zh-CN" dirty="0">
                <a:ea typeface="+mn-ea"/>
                <a:cs typeface="+mn-ea"/>
              </a:rPr>
              <a:t>SC-RFFI</a:t>
            </a:r>
            <a:r>
              <a:rPr lang="zh-CN" altLang="en-US" dirty="0">
                <a:ea typeface="+mn-ea"/>
                <a:cs typeface="+mn-ea"/>
              </a:rPr>
              <a:t>）进行对比分析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168726" y="4257029"/>
            <a:ext cx="2350174" cy="3987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评估效果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556625" y="4701540"/>
            <a:ext cx="3181985" cy="194373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测试不同时间采集的数据对模型的影响。并评估训练集和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测试集在同一天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不同天的情下，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模型的分类准确率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6046103" y="4651642"/>
            <a:ext cx="99794" cy="595131"/>
            <a:chOff x="6042928" y="4651642"/>
            <a:chExt cx="99794" cy="595131"/>
          </a:xfrm>
        </p:grpSpPr>
        <p:sp>
          <p:nvSpPr>
            <p:cNvPr id="35" name="椭圆 34"/>
            <p:cNvSpPr/>
            <p:nvPr/>
          </p:nvSpPr>
          <p:spPr>
            <a:xfrm rot="3272921" flipH="1">
              <a:off x="6042928" y="4651642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 rot="3272921" flipH="1">
              <a:off x="6042928" y="5146979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6092825" y="4701540"/>
              <a:ext cx="0" cy="493104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 rot="21134101" flipH="1">
            <a:off x="8144651" y="3675408"/>
            <a:ext cx="945614" cy="685125"/>
            <a:chOff x="3317535" y="3859530"/>
            <a:chExt cx="945614" cy="685125"/>
          </a:xfrm>
        </p:grpSpPr>
        <p:cxnSp>
          <p:nvCxnSpPr>
            <p:cNvPr id="47" name="直接连接符 46"/>
            <p:cNvCxnSpPr/>
            <p:nvPr/>
          </p:nvCxnSpPr>
          <p:spPr>
            <a:xfrm flipH="1">
              <a:off x="3367432" y="3909427"/>
              <a:ext cx="845820" cy="58533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47"/>
            <p:cNvSpPr/>
            <p:nvPr/>
          </p:nvSpPr>
          <p:spPr>
            <a:xfrm>
              <a:off x="4163355" y="3859530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3317535" y="4444861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设备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8585" y="1057275"/>
            <a:ext cx="4354830" cy="3266440"/>
          </a:xfrm>
          <a:prstGeom prst="round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782695" y="1145540"/>
            <a:ext cx="4392295" cy="1784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1216933" y="347251"/>
            <a:ext cx="8920029" cy="399415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实验验证→图示✪</a:t>
            </a:r>
            <a:r>
              <a:rPr lang="en-US" altLang="zh-CN" dirty="0">
                <a:ea typeface="+mn-ea"/>
                <a:cs typeface="+mn-ea"/>
              </a:rPr>
              <a:t>23✪Diff-ADF</a:t>
            </a:r>
            <a:r>
              <a:rPr lang="zh-CN" altLang="en-US" dirty="0">
                <a:ea typeface="+mn-ea"/>
                <a:cs typeface="+mn-ea"/>
              </a:rPr>
              <a:t>模型的射频指纹识别测试结果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883660" y="955675"/>
            <a:ext cx="4290695" cy="725170"/>
          </a:xfrm>
        </p:spPr>
        <p:txBody>
          <a:bodyPr>
            <a:noAutofit/>
          </a:bodyPr>
          <a:lstStyle/>
          <a:p>
            <a:r>
              <a:rPr lang="zh-CN" altLang="en-US" sz="2000" dirty="0">
                <a:cs typeface="+mn-ea"/>
                <a:sym typeface="+mn-ea"/>
              </a:rPr>
              <a:t>预测标签与真实标签的混淆矩阵</a:t>
            </a:r>
            <a:endParaRPr lang="zh-CN" altLang="en-US" sz="2000" dirty="0">
              <a:cs typeface="+mn-ea"/>
            </a:endParaRPr>
          </a:p>
          <a:p>
            <a:endParaRPr lang="zh-CN" altLang="en-US" sz="2000" dirty="0">
              <a:cs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 rot="10800000" flipV="1">
            <a:off x="3024505" y="1616710"/>
            <a:ext cx="6341745" cy="744855"/>
          </a:xfrm>
        </p:spPr>
        <p:txBody>
          <a:bodyPr wrap="square">
            <a:noAutofit/>
          </a:bodyPr>
          <a:lstStyle/>
          <a:p>
            <a:endParaRPr lang="zh-CN" altLang="en-US" dirty="0"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 descr="p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525" y="1616710"/>
            <a:ext cx="9069070" cy="4838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782695" y="1145540"/>
            <a:ext cx="4392295" cy="1784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1216933" y="347251"/>
            <a:ext cx="8920029" cy="399415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实验验证→图示✪</a:t>
            </a:r>
            <a:r>
              <a:rPr lang="en-US" altLang="zh-CN" dirty="0">
                <a:ea typeface="+mn-ea"/>
                <a:cs typeface="+mn-ea"/>
              </a:rPr>
              <a:t>23✪SC-RFFI</a:t>
            </a:r>
            <a:r>
              <a:rPr lang="zh-CN" altLang="en-US" dirty="0">
                <a:ea typeface="+mn-ea"/>
                <a:cs typeface="+mn-ea"/>
              </a:rPr>
              <a:t>模型的射频指纹识别测试结果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883660" y="955675"/>
            <a:ext cx="4290695" cy="725170"/>
          </a:xfrm>
        </p:spPr>
        <p:txBody>
          <a:bodyPr>
            <a:noAutofit/>
          </a:bodyPr>
          <a:lstStyle/>
          <a:p>
            <a:r>
              <a:rPr lang="zh-CN" altLang="en-US" sz="2000" dirty="0">
                <a:cs typeface="+mn-ea"/>
                <a:sym typeface="+mn-ea"/>
              </a:rPr>
              <a:t>预测标签与真实标签的混淆矩阵</a:t>
            </a:r>
            <a:endParaRPr lang="zh-CN" altLang="en-US" sz="2000" dirty="0">
              <a:cs typeface="+mn-ea"/>
            </a:endParaRPr>
          </a:p>
          <a:p>
            <a:endParaRPr lang="zh-CN" altLang="en-US" sz="2000" dirty="0">
              <a:cs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 rot="10800000" flipV="1">
            <a:off x="3024505" y="1616710"/>
            <a:ext cx="6341745" cy="744855"/>
          </a:xfrm>
        </p:spPr>
        <p:txBody>
          <a:bodyPr wrap="square">
            <a:noAutofit/>
          </a:bodyPr>
          <a:lstStyle/>
          <a:p>
            <a:endParaRPr lang="zh-CN" altLang="en-US" dirty="0"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拼接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900" y="1585595"/>
            <a:ext cx="8458200" cy="438912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494280" y="6182995"/>
            <a:ext cx="3428365" cy="2152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27580" y="5974080"/>
            <a:ext cx="4061460" cy="88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训练集和测试集在同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一天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23380" y="6182995"/>
            <a:ext cx="3243580" cy="2152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58890" y="5974715"/>
            <a:ext cx="401383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训练集和测试集在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不同天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216933" y="347251"/>
            <a:ext cx="8920029" cy="399415"/>
          </a:xfrm>
        </p:spPr>
        <p:txBody>
          <a:bodyPr/>
          <a:lstStyle/>
          <a:p>
            <a:r>
              <a:rPr lang="zh-CN" altLang="en-US" dirty="0"/>
              <a:t>进度安排→图示✪</a:t>
            </a:r>
            <a:r>
              <a:rPr lang="en-US" altLang="zh-CN" dirty="0"/>
              <a:t>31✪</a:t>
            </a:r>
            <a:r>
              <a:rPr lang="zh-CN" altLang="en-US" dirty="0"/>
              <a:t>项目研究时间安排</a:t>
            </a:r>
            <a:r>
              <a:rPr lang="zh-CN" altLang="en-US" dirty="0"/>
              <a:t>甘特图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3100" y="1165860"/>
          <a:ext cx="10845800" cy="495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780"/>
                <a:gridCol w="1682750"/>
                <a:gridCol w="1683385"/>
                <a:gridCol w="1549400"/>
                <a:gridCol w="2150110"/>
                <a:gridCol w="1349375"/>
              </a:tblGrid>
              <a:tr h="1035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进度安排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2025.4-5</a:t>
                      </a:r>
                      <a:endParaRPr lang="en-US" altLang="zh-C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2025.6-8</a:t>
                      </a:r>
                      <a:endParaRPr lang="en-US" altLang="zh-C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2025.9-10</a:t>
                      </a:r>
                      <a:endParaRPr lang="en-US" altLang="zh-C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2025.11-2026.2</a:t>
                      </a:r>
                      <a:endParaRPr lang="en-US" altLang="zh-C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2026.3-4</a:t>
                      </a:r>
                      <a:endParaRPr lang="en-US" altLang="zh-C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8970">
                <a:tc>
                  <a:txBody>
                    <a:bodyPr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sym typeface="+mn-ea"/>
                        </a:rPr>
                        <a:t>数据扩充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85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增强泛化性</a:t>
                      </a:r>
                      <a:endParaRPr lang="en-US" altLang="zh-CN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97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优化算法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7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发表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专利论文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97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讨论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未来方向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矩形: 圆角 7"/>
          <p:cNvSpPr/>
          <p:nvPr/>
        </p:nvSpPr>
        <p:spPr>
          <a:xfrm>
            <a:off x="2954655" y="2307590"/>
            <a:ext cx="1931035" cy="438150"/>
          </a:xfrm>
          <a:prstGeom prst="roundRect">
            <a:avLst>
              <a:gd name="adj" fmla="val 50000"/>
            </a:avLst>
          </a:prstGeom>
          <a:pattFill prst="pct10">
            <a:fgClr>
              <a:schemeClr val="bg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多环境、多场景</a:t>
            </a:r>
            <a:endParaRPr lang="zh-CN" altLang="en-US" dirty="0"/>
          </a:p>
        </p:txBody>
      </p:sp>
      <p:sp>
        <p:nvSpPr>
          <p:cNvPr id="9" name="矩形: 圆角 8"/>
          <p:cNvSpPr/>
          <p:nvPr/>
        </p:nvSpPr>
        <p:spPr>
          <a:xfrm>
            <a:off x="4785995" y="3122295"/>
            <a:ext cx="1781175" cy="438150"/>
          </a:xfrm>
          <a:prstGeom prst="roundRect">
            <a:avLst>
              <a:gd name="adj" fmla="val 50000"/>
            </a:avLst>
          </a:prstGeom>
          <a:pattFill prst="pct10">
            <a:fgClr>
              <a:schemeClr val="bg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寻找鲁棒</a:t>
            </a:r>
            <a:r>
              <a:rPr lang="zh-CN" altLang="en-US" dirty="0"/>
              <a:t>特征</a:t>
            </a:r>
            <a:endParaRPr lang="zh-CN" altLang="en-US" dirty="0"/>
          </a:p>
        </p:txBody>
      </p:sp>
      <p:sp>
        <p:nvSpPr>
          <p:cNvPr id="10" name="矩形: 圆角 9"/>
          <p:cNvSpPr/>
          <p:nvPr/>
        </p:nvSpPr>
        <p:spPr>
          <a:xfrm>
            <a:off x="6478905" y="3893185"/>
            <a:ext cx="1659255" cy="438150"/>
          </a:xfrm>
          <a:prstGeom prst="roundRect">
            <a:avLst>
              <a:gd name="adj" fmla="val 50000"/>
            </a:avLst>
          </a:prstGeom>
          <a:pattFill prst="pct10">
            <a:fgClr>
              <a:schemeClr val="bg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跟进新成果</a:t>
            </a:r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>
            <a:off x="8072120" y="4715510"/>
            <a:ext cx="2189480" cy="438150"/>
          </a:xfrm>
          <a:prstGeom prst="roundRect">
            <a:avLst>
              <a:gd name="adj" fmla="val 50000"/>
            </a:avLst>
          </a:prstGeom>
          <a:pattFill prst="pct10">
            <a:fgClr>
              <a:schemeClr val="bg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进一步创新和</a:t>
            </a:r>
            <a:r>
              <a:rPr lang="zh-CN" altLang="en-US" dirty="0"/>
              <a:t>实现</a:t>
            </a:r>
            <a:endParaRPr lang="zh-CN" altLang="en-US" dirty="0"/>
          </a:p>
        </p:txBody>
      </p:sp>
      <p:sp>
        <p:nvSpPr>
          <p:cNvPr id="6" name="矩形: 圆角 10"/>
          <p:cNvSpPr/>
          <p:nvPr/>
        </p:nvSpPr>
        <p:spPr>
          <a:xfrm>
            <a:off x="10203815" y="5534660"/>
            <a:ext cx="1426210" cy="438150"/>
          </a:xfrm>
          <a:prstGeom prst="roundRect">
            <a:avLst>
              <a:gd name="adj" fmla="val 50000"/>
            </a:avLst>
          </a:prstGeom>
          <a:pattFill prst="pct10">
            <a:fgClr>
              <a:schemeClr val="bg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/>
              <a:t>完善总结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4633620" y="1561750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1216933" y="347251"/>
            <a:ext cx="8920029" cy="399415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进度安排→图示✪</a:t>
            </a:r>
            <a:r>
              <a:rPr lang="en-US" altLang="zh-CN" dirty="0">
                <a:ea typeface="+mn-ea"/>
                <a:cs typeface="+mn-ea"/>
              </a:rPr>
              <a:t>08</a:t>
            </a:r>
            <a:r>
              <a:rPr lang="zh-CN" altLang="en-US" dirty="0">
                <a:ea typeface="+mn-ea"/>
                <a:cs typeface="+mn-ea"/>
              </a:rPr>
              <a:t>✪流程</a:t>
            </a:r>
            <a:r>
              <a:rPr lang="en-US" altLang="zh-CN" dirty="0">
                <a:ea typeface="+mn-ea"/>
                <a:cs typeface="+mn-ea"/>
              </a:rPr>
              <a:t>&amp;</a:t>
            </a:r>
            <a:r>
              <a:rPr lang="zh-CN" altLang="en-US" dirty="0">
                <a:ea typeface="+mn-ea"/>
                <a:cs typeface="+mn-ea"/>
              </a:rPr>
              <a:t>时间轴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950335" y="1265555"/>
            <a:ext cx="4290695" cy="935355"/>
          </a:xfrm>
        </p:spPr>
        <p:txBody>
          <a:bodyPr>
            <a:noAutofit/>
          </a:bodyPr>
          <a:lstStyle/>
          <a:p>
            <a:r>
              <a:rPr lang="zh-CN" altLang="en-US" dirty="0">
                <a:ea typeface="+mn-ea"/>
                <a:cs typeface="+mn-ea"/>
              </a:rPr>
              <a:t>详细</a:t>
            </a:r>
            <a:r>
              <a:rPr lang="zh-CN" altLang="en-US" dirty="0">
                <a:ea typeface="+mn-ea"/>
                <a:cs typeface="+mn-ea"/>
              </a:rPr>
              <a:t>进度安排</a:t>
            </a:r>
            <a:endParaRPr lang="zh-CN" altLang="en-US" dirty="0">
              <a:ea typeface="+mn-ea"/>
              <a:cs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2917825" y="2569210"/>
            <a:ext cx="962025" cy="907415"/>
            <a:chOff x="10010259" y="3170881"/>
            <a:chExt cx="820800" cy="820800"/>
          </a:xfrm>
        </p:grpSpPr>
        <p:sp>
          <p:nvSpPr>
            <p:cNvPr id="11" name="íṥļîḓê"/>
            <p:cNvSpPr/>
            <p:nvPr>
              <p:custDataLst>
                <p:tags r:id="rId2"/>
              </p:custDataLst>
            </p:nvPr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2" name="íṥlíḓê"/>
            <p:cNvSpPr/>
            <p:nvPr>
              <p:custDataLst>
                <p:tags r:id="rId3"/>
              </p:custDataLst>
            </p:nvPr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3" name="ïśļiḑé"/>
            <p:cNvSpPr/>
            <p:nvPr>
              <p:custDataLst>
                <p:tags r:id="rId4"/>
              </p:custDataLst>
            </p:nvPr>
          </p:nvSpPr>
          <p:spPr>
            <a:xfrm>
              <a:off x="10240310" y="3359753"/>
              <a:ext cx="360698" cy="443294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139065" y="2426970"/>
            <a:ext cx="3129280" cy="39878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2025.4-2025.5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39065" y="2882265"/>
            <a:ext cx="2848610" cy="8102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进行多环境、多场景数据扩充。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-154940" y="4065270"/>
            <a:ext cx="3552825" cy="43942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2025.6-2025.8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38430" y="4661535"/>
            <a:ext cx="2882265" cy="8102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dirty="0">
                <a:ea typeface="+mn-ea"/>
                <a:cs typeface="+mn-ea"/>
              </a:rPr>
              <a:t>实现对分类模型的任意时刻持续性学习新特征的能力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4311650" y="5316855"/>
            <a:ext cx="3438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2025.9-2025.10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10"/>
            </p:custDataLst>
          </p:nvPr>
        </p:nvSpPr>
        <p:spPr>
          <a:xfrm>
            <a:off x="4252533" y="5717262"/>
            <a:ext cx="3686934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持续跟进最新的研究成果并实现可能的创新性，包括数据预处理，模型训练和算法设计。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9041765" y="4163695"/>
            <a:ext cx="3150870" cy="39878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  <a:sym typeface="+mn-ea"/>
              </a:rPr>
              <a:t>2025.11-2026.2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9121775" y="4661535"/>
            <a:ext cx="2980055" cy="81026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defPPr>
              <a:defRPr lang="zh-CN"/>
            </a:defPPr>
            <a:lvl1pPr marR="0" lvl="0" indent="0" algn="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noProof="0" dirty="0">
                <a:latin typeface="+mn-ea"/>
                <a:cs typeface="+mn-ea"/>
                <a:sym typeface="+mn-ea"/>
              </a:rPr>
              <a:t>在实验基础上尝试发表专利或论文</a:t>
            </a:r>
            <a:r>
              <a:rPr lang="zh-CN" altLang="en-US" dirty="0">
                <a:ea typeface="+mn-ea"/>
                <a:cs typeface="+mn-ea"/>
              </a:rPr>
              <a:t>。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13"/>
            </p:custDataLst>
          </p:nvPr>
        </p:nvSpPr>
        <p:spPr>
          <a:xfrm>
            <a:off x="8930005" y="2406650"/>
            <a:ext cx="3394710" cy="487680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  <a:sym typeface="+mn-ea"/>
              </a:rPr>
              <a:t>2026.3-2026.4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9191625" y="2743200"/>
            <a:ext cx="2697480" cy="1322070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cs typeface="+mn-ea"/>
                <a:sym typeface="+mn-ea"/>
              </a:rPr>
              <a:t>准备项目结项报告，还将讨论项目的影响和意义，以及未来可能的研究方向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cxnSp>
        <p:nvCxnSpPr>
          <p:cNvPr id="40" name="直接连接符 39"/>
          <p:cNvCxnSpPr/>
          <p:nvPr>
            <p:custDataLst>
              <p:tags r:id="rId15"/>
            </p:custDataLst>
          </p:nvPr>
        </p:nvCxnSpPr>
        <p:spPr>
          <a:xfrm>
            <a:off x="4043414" y="4776220"/>
            <a:ext cx="1407231" cy="0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16"/>
            </p:custDataLst>
          </p:nvPr>
        </p:nvCxnSpPr>
        <p:spPr>
          <a:xfrm>
            <a:off x="6741354" y="4776220"/>
            <a:ext cx="1407231" cy="0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17"/>
            </p:custDataLst>
          </p:nvPr>
        </p:nvCxnSpPr>
        <p:spPr>
          <a:xfrm flipV="1">
            <a:off x="8793940" y="3657517"/>
            <a:ext cx="0" cy="564708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>
            <p:custDataLst>
              <p:tags r:id="rId18"/>
            </p:custDataLst>
          </p:nvPr>
        </p:nvCxnSpPr>
        <p:spPr>
          <a:xfrm>
            <a:off x="3398060" y="3638808"/>
            <a:ext cx="0" cy="564708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46" name="Group 47"/>
          <p:cNvGrpSpPr/>
          <p:nvPr>
            <p:custDataLst>
              <p:tags r:id="rId19"/>
            </p:custDataLst>
          </p:nvPr>
        </p:nvGrpSpPr>
        <p:grpSpPr>
          <a:xfrm>
            <a:off x="5594540" y="4340709"/>
            <a:ext cx="953392" cy="908352"/>
            <a:chOff x="1774568" y="3178024"/>
            <a:chExt cx="953392" cy="908352"/>
          </a:xfrm>
        </p:grpSpPr>
        <p:sp>
          <p:nvSpPr>
            <p:cNvPr id="47" name="矩形: 圆角 27"/>
            <p:cNvSpPr/>
            <p:nvPr>
              <p:custDataLst>
                <p:tags r:id="rId20"/>
              </p:custDataLst>
            </p:nvPr>
          </p:nvSpPr>
          <p:spPr>
            <a:xfrm>
              <a:off x="1774568" y="3178024"/>
              <a:ext cx="953392" cy="908352"/>
            </a:xfrm>
            <a:prstGeom prst="roundRect">
              <a:avLst>
                <a:gd name="adj" fmla="val 14825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8" name="矩形: 圆角 28"/>
            <p:cNvSpPr/>
            <p:nvPr>
              <p:custDataLst>
                <p:tags r:id="rId21"/>
              </p:custDataLst>
            </p:nvPr>
          </p:nvSpPr>
          <p:spPr>
            <a:xfrm>
              <a:off x="1805048" y="3207064"/>
              <a:ext cx="892432" cy="850272"/>
            </a:xfrm>
            <a:prstGeom prst="roundRect">
              <a:avLst>
                <a:gd name="adj" fmla="val 1482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9" name="ïśļiḑé"/>
            <p:cNvSpPr/>
            <p:nvPr>
              <p:custDataLst>
                <p:tags r:id="rId22"/>
              </p:custDataLst>
            </p:nvPr>
          </p:nvSpPr>
          <p:spPr>
            <a:xfrm>
              <a:off x="2046742" y="3427913"/>
              <a:ext cx="409044" cy="408568"/>
            </a:xfrm>
            <a:custGeom>
              <a:avLst/>
              <a:gdLst>
                <a:gd name="connsiteX0" fmla="*/ 20293 w 607428"/>
                <a:gd name="connsiteY0" fmla="*/ 364032 h 606722"/>
                <a:gd name="connsiteX1" fmla="*/ 20293 w 607428"/>
                <a:gd name="connsiteY1" fmla="*/ 586461 h 606722"/>
                <a:gd name="connsiteX2" fmla="*/ 50645 w 607428"/>
                <a:gd name="connsiteY2" fmla="*/ 586461 h 606722"/>
                <a:gd name="connsiteX3" fmla="*/ 50645 w 607428"/>
                <a:gd name="connsiteY3" fmla="*/ 576330 h 606722"/>
                <a:gd name="connsiteX4" fmla="*/ 50645 w 607428"/>
                <a:gd name="connsiteY4" fmla="*/ 379228 h 606722"/>
                <a:gd name="connsiteX5" fmla="*/ 50645 w 607428"/>
                <a:gd name="connsiteY5" fmla="*/ 364032 h 606722"/>
                <a:gd name="connsiteX6" fmla="*/ 162033 w 607428"/>
                <a:gd name="connsiteY6" fmla="*/ 334909 h 606722"/>
                <a:gd name="connsiteX7" fmla="*/ 192432 w 607428"/>
                <a:gd name="connsiteY7" fmla="*/ 345815 h 606722"/>
                <a:gd name="connsiteX8" fmla="*/ 250108 w 607428"/>
                <a:gd name="connsiteY8" fmla="*/ 364032 h 606722"/>
                <a:gd name="connsiteX9" fmla="*/ 289627 w 607428"/>
                <a:gd name="connsiteY9" fmla="*/ 364032 h 606722"/>
                <a:gd name="connsiteX10" fmla="*/ 362523 w 607428"/>
                <a:gd name="connsiteY10" fmla="*/ 401444 h 606722"/>
                <a:gd name="connsiteX11" fmla="*/ 364570 w 607428"/>
                <a:gd name="connsiteY11" fmla="*/ 424727 h 606722"/>
                <a:gd name="connsiteX12" fmla="*/ 212636 w 607428"/>
                <a:gd name="connsiteY12" fmla="*/ 424727 h 606722"/>
                <a:gd name="connsiteX13" fmla="*/ 162081 w 607428"/>
                <a:gd name="connsiteY13" fmla="*/ 465160 h 606722"/>
                <a:gd name="connsiteX14" fmla="*/ 172138 w 607428"/>
                <a:gd name="connsiteY14" fmla="*/ 475291 h 606722"/>
                <a:gd name="connsiteX15" fmla="*/ 182285 w 607428"/>
                <a:gd name="connsiteY15" fmla="*/ 465160 h 606722"/>
                <a:gd name="connsiteX16" fmla="*/ 212636 w 607428"/>
                <a:gd name="connsiteY16" fmla="*/ 444899 h 606722"/>
                <a:gd name="connsiteX17" fmla="*/ 364570 w 607428"/>
                <a:gd name="connsiteY17" fmla="*/ 444899 h 606722"/>
                <a:gd name="connsiteX18" fmla="*/ 371691 w 607428"/>
                <a:gd name="connsiteY18" fmla="*/ 443922 h 606722"/>
                <a:gd name="connsiteX19" fmla="*/ 398037 w 607428"/>
                <a:gd name="connsiteY19" fmla="*/ 434768 h 606722"/>
                <a:gd name="connsiteX20" fmla="*/ 434440 w 607428"/>
                <a:gd name="connsiteY20" fmla="*/ 426682 h 606722"/>
                <a:gd name="connsiteX21" fmla="*/ 521578 w 607428"/>
                <a:gd name="connsiteY21" fmla="*/ 373096 h 606722"/>
                <a:gd name="connsiteX22" fmla="*/ 602573 w 607428"/>
                <a:gd name="connsiteY22" fmla="*/ 374163 h 606722"/>
                <a:gd name="connsiteX23" fmla="*/ 596521 w 607428"/>
                <a:gd name="connsiteY23" fmla="*/ 414596 h 606722"/>
                <a:gd name="connsiteX24" fmla="*/ 443608 w 607428"/>
                <a:gd name="connsiteY24" fmla="*/ 531898 h 606722"/>
                <a:gd name="connsiteX25" fmla="*/ 410142 w 607428"/>
                <a:gd name="connsiteY25" fmla="*/ 549049 h 606722"/>
                <a:gd name="connsiteX26" fmla="*/ 395990 w 607428"/>
                <a:gd name="connsiteY26" fmla="*/ 551093 h 606722"/>
                <a:gd name="connsiteX27" fmla="*/ 264349 w 607428"/>
                <a:gd name="connsiteY27" fmla="*/ 571265 h 606722"/>
                <a:gd name="connsiteX28" fmla="*/ 202579 w 607428"/>
                <a:gd name="connsiteY28" fmla="*/ 576330 h 606722"/>
                <a:gd name="connsiteX29" fmla="*/ 70938 w 607428"/>
                <a:gd name="connsiteY29" fmla="*/ 576330 h 606722"/>
                <a:gd name="connsiteX30" fmla="*/ 70938 w 607428"/>
                <a:gd name="connsiteY30" fmla="*/ 606722 h 606722"/>
                <a:gd name="connsiteX31" fmla="*/ 0 w 607428"/>
                <a:gd name="connsiteY31" fmla="*/ 606722 h 606722"/>
                <a:gd name="connsiteX32" fmla="*/ 0 w 607428"/>
                <a:gd name="connsiteY32" fmla="*/ 343771 h 606722"/>
                <a:gd name="connsiteX33" fmla="*/ 70938 w 607428"/>
                <a:gd name="connsiteY33" fmla="*/ 343771 h 606722"/>
                <a:gd name="connsiteX34" fmla="*/ 70938 w 607428"/>
                <a:gd name="connsiteY34" fmla="*/ 366076 h 606722"/>
                <a:gd name="connsiteX35" fmla="*/ 162033 w 607428"/>
                <a:gd name="connsiteY35" fmla="*/ 334909 h 606722"/>
                <a:gd name="connsiteX36" fmla="*/ 455783 w 607428"/>
                <a:gd name="connsiteY36" fmla="*/ 63721 h 606722"/>
                <a:gd name="connsiteX37" fmla="*/ 476036 w 607428"/>
                <a:gd name="connsiteY37" fmla="*/ 83938 h 606722"/>
                <a:gd name="connsiteX38" fmla="*/ 455783 w 607428"/>
                <a:gd name="connsiteY38" fmla="*/ 104155 h 606722"/>
                <a:gd name="connsiteX39" fmla="*/ 435530 w 607428"/>
                <a:gd name="connsiteY39" fmla="*/ 83938 h 606722"/>
                <a:gd name="connsiteX40" fmla="*/ 455783 w 607428"/>
                <a:gd name="connsiteY40" fmla="*/ 63721 h 606722"/>
                <a:gd name="connsiteX41" fmla="*/ 455725 w 607428"/>
                <a:gd name="connsiteY41" fmla="*/ 43462 h 606722"/>
                <a:gd name="connsiteX42" fmla="*/ 415227 w 607428"/>
                <a:gd name="connsiteY42" fmla="*/ 83903 h 606722"/>
                <a:gd name="connsiteX43" fmla="*/ 455725 w 607428"/>
                <a:gd name="connsiteY43" fmla="*/ 124343 h 606722"/>
                <a:gd name="connsiteX44" fmla="*/ 496222 w 607428"/>
                <a:gd name="connsiteY44" fmla="*/ 83903 h 606722"/>
                <a:gd name="connsiteX45" fmla="*/ 455725 w 607428"/>
                <a:gd name="connsiteY45" fmla="*/ 43462 h 606722"/>
                <a:gd name="connsiteX46" fmla="*/ 445578 w 607428"/>
                <a:gd name="connsiteY46" fmla="*/ 0 h 606722"/>
                <a:gd name="connsiteX47" fmla="*/ 536720 w 607428"/>
                <a:gd name="connsiteY47" fmla="*/ 91013 h 606722"/>
                <a:gd name="connsiteX48" fmla="*/ 445578 w 607428"/>
                <a:gd name="connsiteY48" fmla="*/ 182027 h 606722"/>
                <a:gd name="connsiteX49" fmla="*/ 428400 w 607428"/>
                <a:gd name="connsiteY49" fmla="*/ 179982 h 606722"/>
                <a:gd name="connsiteX50" fmla="*/ 413180 w 607428"/>
                <a:gd name="connsiteY50" fmla="*/ 198203 h 606722"/>
                <a:gd name="connsiteX51" fmla="*/ 405081 w 607428"/>
                <a:gd name="connsiteY51" fmla="*/ 202291 h 606722"/>
                <a:gd name="connsiteX52" fmla="*/ 374730 w 607428"/>
                <a:gd name="connsiteY52" fmla="*/ 202291 h 606722"/>
                <a:gd name="connsiteX53" fmla="*/ 374730 w 607428"/>
                <a:gd name="connsiteY53" fmla="*/ 232599 h 606722"/>
                <a:gd name="connsiteX54" fmla="*/ 364583 w 607428"/>
                <a:gd name="connsiteY54" fmla="*/ 242732 h 606722"/>
                <a:gd name="connsiteX55" fmla="*/ 334232 w 607428"/>
                <a:gd name="connsiteY55" fmla="*/ 242732 h 606722"/>
                <a:gd name="connsiteX56" fmla="*/ 334232 w 607428"/>
                <a:gd name="connsiteY56" fmla="*/ 273040 h 606722"/>
                <a:gd name="connsiteX57" fmla="*/ 324086 w 607428"/>
                <a:gd name="connsiteY57" fmla="*/ 283172 h 606722"/>
                <a:gd name="connsiteX58" fmla="*/ 283588 w 607428"/>
                <a:gd name="connsiteY58" fmla="*/ 283172 h 606722"/>
                <a:gd name="connsiteX59" fmla="*/ 283588 w 607428"/>
                <a:gd name="connsiteY59" fmla="*/ 313481 h 606722"/>
                <a:gd name="connsiteX60" fmla="*/ 273441 w 607428"/>
                <a:gd name="connsiteY60" fmla="*/ 323613 h 606722"/>
                <a:gd name="connsiteX61" fmla="*/ 222797 w 607428"/>
                <a:gd name="connsiteY61" fmla="*/ 323613 h 606722"/>
                <a:gd name="connsiteX62" fmla="*/ 212651 w 607428"/>
                <a:gd name="connsiteY62" fmla="*/ 315525 h 606722"/>
                <a:gd name="connsiteX63" fmla="*/ 202593 w 607428"/>
                <a:gd name="connsiteY63" fmla="*/ 264952 h 606722"/>
                <a:gd name="connsiteX64" fmla="*/ 205619 w 607428"/>
                <a:gd name="connsiteY64" fmla="*/ 255886 h 606722"/>
                <a:gd name="connsiteX65" fmla="*/ 356484 w 607428"/>
                <a:gd name="connsiteY65" fmla="*/ 108167 h 606722"/>
                <a:gd name="connsiteX66" fmla="*/ 354437 w 607428"/>
                <a:gd name="connsiteY66" fmla="*/ 91013 h 606722"/>
                <a:gd name="connsiteX67" fmla="*/ 445578 w 607428"/>
                <a:gd name="connsiteY6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7428" h="606722">
                  <a:moveTo>
                    <a:pt x="20293" y="364032"/>
                  </a:moveTo>
                  <a:lnTo>
                    <a:pt x="20293" y="586461"/>
                  </a:lnTo>
                  <a:lnTo>
                    <a:pt x="50645" y="586461"/>
                  </a:lnTo>
                  <a:lnTo>
                    <a:pt x="50645" y="576330"/>
                  </a:lnTo>
                  <a:lnTo>
                    <a:pt x="50645" y="379228"/>
                  </a:lnTo>
                  <a:lnTo>
                    <a:pt x="50645" y="364032"/>
                  </a:lnTo>
                  <a:close/>
                  <a:moveTo>
                    <a:pt x="162033" y="334909"/>
                  </a:moveTo>
                  <a:cubicBezTo>
                    <a:pt x="172923" y="335712"/>
                    <a:pt x="183309" y="338994"/>
                    <a:pt x="192432" y="345815"/>
                  </a:cubicBezTo>
                  <a:cubicBezTo>
                    <a:pt x="207652" y="356923"/>
                    <a:pt x="228925" y="364032"/>
                    <a:pt x="250108" y="364032"/>
                  </a:cubicBezTo>
                  <a:lnTo>
                    <a:pt x="289627" y="364032"/>
                  </a:lnTo>
                  <a:cubicBezTo>
                    <a:pt x="318999" y="364032"/>
                    <a:pt x="346324" y="378162"/>
                    <a:pt x="362523" y="401444"/>
                  </a:cubicBezTo>
                  <a:cubicBezTo>
                    <a:pt x="368665" y="410508"/>
                    <a:pt x="366617" y="424727"/>
                    <a:pt x="364570" y="424727"/>
                  </a:cubicBezTo>
                  <a:lnTo>
                    <a:pt x="212636" y="424727"/>
                  </a:lnTo>
                  <a:cubicBezTo>
                    <a:pt x="181306" y="424727"/>
                    <a:pt x="162081" y="439834"/>
                    <a:pt x="162081" y="465160"/>
                  </a:cubicBezTo>
                  <a:cubicBezTo>
                    <a:pt x="162081" y="471203"/>
                    <a:pt x="166086" y="475291"/>
                    <a:pt x="172138" y="475291"/>
                  </a:cubicBezTo>
                  <a:cubicBezTo>
                    <a:pt x="178280" y="475291"/>
                    <a:pt x="182285" y="471203"/>
                    <a:pt x="182285" y="465160"/>
                  </a:cubicBezTo>
                  <a:cubicBezTo>
                    <a:pt x="182285" y="460095"/>
                    <a:pt x="182285" y="444899"/>
                    <a:pt x="212636" y="444899"/>
                  </a:cubicBezTo>
                  <a:lnTo>
                    <a:pt x="364570" y="444899"/>
                  </a:lnTo>
                  <a:cubicBezTo>
                    <a:pt x="366617" y="444899"/>
                    <a:pt x="368665" y="443922"/>
                    <a:pt x="371691" y="443922"/>
                  </a:cubicBezTo>
                  <a:cubicBezTo>
                    <a:pt x="378722" y="437879"/>
                    <a:pt x="388869" y="435835"/>
                    <a:pt x="398037" y="434768"/>
                  </a:cubicBezTo>
                  <a:cubicBezTo>
                    <a:pt x="413168" y="433791"/>
                    <a:pt x="426341" y="430770"/>
                    <a:pt x="434440" y="426682"/>
                  </a:cubicBezTo>
                  <a:lnTo>
                    <a:pt x="521578" y="373096"/>
                  </a:lnTo>
                  <a:cubicBezTo>
                    <a:pt x="567149" y="348836"/>
                    <a:pt x="584327" y="349902"/>
                    <a:pt x="602573" y="374163"/>
                  </a:cubicBezTo>
                  <a:cubicBezTo>
                    <a:pt x="610673" y="386248"/>
                    <a:pt x="608626" y="404466"/>
                    <a:pt x="596521" y="414596"/>
                  </a:cubicBezTo>
                  <a:lnTo>
                    <a:pt x="443608" y="531898"/>
                  </a:lnTo>
                  <a:cubicBezTo>
                    <a:pt x="433461" y="541940"/>
                    <a:pt x="422335" y="547005"/>
                    <a:pt x="410142" y="549049"/>
                  </a:cubicBezTo>
                  <a:cubicBezTo>
                    <a:pt x="406136" y="550115"/>
                    <a:pt x="401063" y="551093"/>
                    <a:pt x="395990" y="551093"/>
                  </a:cubicBezTo>
                  <a:lnTo>
                    <a:pt x="264349" y="571265"/>
                  </a:lnTo>
                  <a:cubicBezTo>
                    <a:pt x="244056" y="574375"/>
                    <a:pt x="222783" y="576330"/>
                    <a:pt x="202579" y="576330"/>
                  </a:cubicBezTo>
                  <a:lnTo>
                    <a:pt x="70938" y="576330"/>
                  </a:lnTo>
                  <a:lnTo>
                    <a:pt x="70938" y="606722"/>
                  </a:lnTo>
                  <a:lnTo>
                    <a:pt x="0" y="606722"/>
                  </a:lnTo>
                  <a:lnTo>
                    <a:pt x="0" y="343771"/>
                  </a:lnTo>
                  <a:lnTo>
                    <a:pt x="70938" y="343771"/>
                  </a:lnTo>
                  <a:lnTo>
                    <a:pt x="70938" y="366076"/>
                  </a:lnTo>
                  <a:cubicBezTo>
                    <a:pt x="92166" y="352413"/>
                    <a:pt x="129365" y="332502"/>
                    <a:pt x="162033" y="334909"/>
                  </a:cubicBezTo>
                  <a:close/>
                  <a:moveTo>
                    <a:pt x="455783" y="63721"/>
                  </a:moveTo>
                  <a:cubicBezTo>
                    <a:pt x="466968" y="63721"/>
                    <a:pt x="476036" y="72772"/>
                    <a:pt x="476036" y="83938"/>
                  </a:cubicBezTo>
                  <a:cubicBezTo>
                    <a:pt x="476036" y="95104"/>
                    <a:pt x="466968" y="104155"/>
                    <a:pt x="455783" y="104155"/>
                  </a:cubicBezTo>
                  <a:cubicBezTo>
                    <a:pt x="444598" y="104155"/>
                    <a:pt x="435530" y="95104"/>
                    <a:pt x="435530" y="83938"/>
                  </a:cubicBezTo>
                  <a:cubicBezTo>
                    <a:pt x="435530" y="72772"/>
                    <a:pt x="444598" y="63721"/>
                    <a:pt x="455783" y="63721"/>
                  </a:cubicBezTo>
                  <a:close/>
                  <a:moveTo>
                    <a:pt x="455725" y="43462"/>
                  </a:moveTo>
                  <a:cubicBezTo>
                    <a:pt x="433474" y="43462"/>
                    <a:pt x="415227" y="61683"/>
                    <a:pt x="415227" y="83903"/>
                  </a:cubicBezTo>
                  <a:cubicBezTo>
                    <a:pt x="415227" y="106212"/>
                    <a:pt x="433474" y="124343"/>
                    <a:pt x="455725" y="124343"/>
                  </a:cubicBezTo>
                  <a:cubicBezTo>
                    <a:pt x="477976" y="124343"/>
                    <a:pt x="496222" y="106212"/>
                    <a:pt x="496222" y="83903"/>
                  </a:cubicBezTo>
                  <a:cubicBezTo>
                    <a:pt x="496222" y="61683"/>
                    <a:pt x="477976" y="43462"/>
                    <a:pt x="455725" y="43462"/>
                  </a:cubicBezTo>
                  <a:close/>
                  <a:moveTo>
                    <a:pt x="445578" y="0"/>
                  </a:moveTo>
                  <a:cubicBezTo>
                    <a:pt x="496222" y="0"/>
                    <a:pt x="536720" y="40440"/>
                    <a:pt x="536720" y="91013"/>
                  </a:cubicBezTo>
                  <a:cubicBezTo>
                    <a:pt x="536720" y="141586"/>
                    <a:pt x="496222" y="182027"/>
                    <a:pt x="445578" y="182027"/>
                  </a:cubicBezTo>
                  <a:cubicBezTo>
                    <a:pt x="439526" y="182027"/>
                    <a:pt x="433474" y="181049"/>
                    <a:pt x="428400" y="179982"/>
                  </a:cubicBezTo>
                  <a:cubicBezTo>
                    <a:pt x="421280" y="188070"/>
                    <a:pt x="413180" y="198203"/>
                    <a:pt x="413180" y="198203"/>
                  </a:cubicBezTo>
                  <a:cubicBezTo>
                    <a:pt x="411133" y="201225"/>
                    <a:pt x="408107" y="202291"/>
                    <a:pt x="405081" y="202291"/>
                  </a:cubicBezTo>
                  <a:lnTo>
                    <a:pt x="374730" y="202291"/>
                  </a:lnTo>
                  <a:lnTo>
                    <a:pt x="374730" y="232599"/>
                  </a:lnTo>
                  <a:cubicBezTo>
                    <a:pt x="374730" y="238643"/>
                    <a:pt x="370636" y="242732"/>
                    <a:pt x="364583" y="242732"/>
                  </a:cubicBezTo>
                  <a:lnTo>
                    <a:pt x="334232" y="242732"/>
                  </a:lnTo>
                  <a:lnTo>
                    <a:pt x="334232" y="273040"/>
                  </a:lnTo>
                  <a:cubicBezTo>
                    <a:pt x="334232" y="279084"/>
                    <a:pt x="330138" y="283172"/>
                    <a:pt x="324086" y="283172"/>
                  </a:cubicBezTo>
                  <a:lnTo>
                    <a:pt x="283588" y="283172"/>
                  </a:lnTo>
                  <a:lnTo>
                    <a:pt x="283588" y="313481"/>
                  </a:lnTo>
                  <a:cubicBezTo>
                    <a:pt x="283588" y="319525"/>
                    <a:pt x="279494" y="323613"/>
                    <a:pt x="273441" y="323613"/>
                  </a:cubicBezTo>
                  <a:lnTo>
                    <a:pt x="222797" y="323613"/>
                  </a:lnTo>
                  <a:cubicBezTo>
                    <a:pt x="217724" y="323613"/>
                    <a:pt x="213719" y="320591"/>
                    <a:pt x="212651" y="315525"/>
                  </a:cubicBezTo>
                  <a:lnTo>
                    <a:pt x="202593" y="264952"/>
                  </a:lnTo>
                  <a:cubicBezTo>
                    <a:pt x="202593" y="261930"/>
                    <a:pt x="203572" y="257841"/>
                    <a:pt x="205619" y="255886"/>
                  </a:cubicBezTo>
                  <a:lnTo>
                    <a:pt x="356484" y="108167"/>
                  </a:lnTo>
                  <a:cubicBezTo>
                    <a:pt x="355505" y="103190"/>
                    <a:pt x="354437" y="97057"/>
                    <a:pt x="354437" y="91013"/>
                  </a:cubicBezTo>
                  <a:cubicBezTo>
                    <a:pt x="354437" y="40440"/>
                    <a:pt x="394934" y="0"/>
                    <a:pt x="445578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23"/>
            </p:custDataLst>
          </p:nvPr>
        </p:nvGrpSpPr>
        <p:grpSpPr>
          <a:xfrm>
            <a:off x="2915663" y="4402304"/>
            <a:ext cx="953392" cy="908352"/>
            <a:chOff x="1774568" y="3178024"/>
            <a:chExt cx="953392" cy="908352"/>
          </a:xfrm>
        </p:grpSpPr>
        <p:sp>
          <p:nvSpPr>
            <p:cNvPr id="51" name="矩形: 圆角 21"/>
            <p:cNvSpPr/>
            <p:nvPr>
              <p:custDataLst>
                <p:tags r:id="rId24"/>
              </p:custDataLst>
            </p:nvPr>
          </p:nvSpPr>
          <p:spPr>
            <a:xfrm>
              <a:off x="1774568" y="3178024"/>
              <a:ext cx="953392" cy="908352"/>
            </a:xfrm>
            <a:prstGeom prst="roundRect">
              <a:avLst>
                <a:gd name="adj" fmla="val 14825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52" name="矩形: 圆角 22"/>
            <p:cNvSpPr/>
            <p:nvPr>
              <p:custDataLst>
                <p:tags r:id="rId25"/>
              </p:custDataLst>
            </p:nvPr>
          </p:nvSpPr>
          <p:spPr>
            <a:xfrm>
              <a:off x="1805048" y="3207064"/>
              <a:ext cx="892432" cy="850272"/>
            </a:xfrm>
            <a:prstGeom prst="roundRect">
              <a:avLst>
                <a:gd name="adj" fmla="val 1482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53" name="ïśļiḑé"/>
            <p:cNvSpPr/>
            <p:nvPr>
              <p:custDataLst>
                <p:tags r:id="rId26"/>
              </p:custDataLst>
            </p:nvPr>
          </p:nvSpPr>
          <p:spPr>
            <a:xfrm>
              <a:off x="2046742" y="3435508"/>
              <a:ext cx="409044" cy="393384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54" name="Group 53"/>
          <p:cNvGrpSpPr/>
          <p:nvPr>
            <p:custDataLst>
              <p:tags r:id="rId27"/>
            </p:custDataLst>
          </p:nvPr>
        </p:nvGrpSpPr>
        <p:grpSpPr>
          <a:xfrm>
            <a:off x="8270242" y="4340709"/>
            <a:ext cx="953392" cy="908352"/>
            <a:chOff x="1774568" y="3178024"/>
            <a:chExt cx="953392" cy="908352"/>
          </a:xfrm>
        </p:grpSpPr>
        <p:sp>
          <p:nvSpPr>
            <p:cNvPr id="55" name="矩形: 圆角 33"/>
            <p:cNvSpPr/>
            <p:nvPr>
              <p:custDataLst>
                <p:tags r:id="rId28"/>
              </p:custDataLst>
            </p:nvPr>
          </p:nvSpPr>
          <p:spPr>
            <a:xfrm>
              <a:off x="1774568" y="3178024"/>
              <a:ext cx="953392" cy="908352"/>
            </a:xfrm>
            <a:prstGeom prst="roundRect">
              <a:avLst>
                <a:gd name="adj" fmla="val 14825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56" name="矩形: 圆角 34"/>
            <p:cNvSpPr/>
            <p:nvPr>
              <p:custDataLst>
                <p:tags r:id="rId29"/>
              </p:custDataLst>
            </p:nvPr>
          </p:nvSpPr>
          <p:spPr>
            <a:xfrm>
              <a:off x="1805048" y="3207064"/>
              <a:ext cx="892432" cy="850272"/>
            </a:xfrm>
            <a:prstGeom prst="roundRect">
              <a:avLst>
                <a:gd name="adj" fmla="val 1482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57" name="ïśļiḑé"/>
            <p:cNvSpPr/>
            <p:nvPr>
              <p:custDataLst>
                <p:tags r:id="rId30"/>
              </p:custDataLst>
            </p:nvPr>
          </p:nvSpPr>
          <p:spPr>
            <a:xfrm>
              <a:off x="2050094" y="3427678"/>
              <a:ext cx="402338" cy="409044"/>
            </a:xfrm>
            <a:custGeom>
              <a:avLst/>
              <a:gdLst>
                <a:gd name="connsiteX0" fmla="*/ 385027 w 596852"/>
                <a:gd name="connsiteY0" fmla="*/ 252940 h 606800"/>
                <a:gd name="connsiteX1" fmla="*/ 365547 w 596852"/>
                <a:gd name="connsiteY1" fmla="*/ 272390 h 606800"/>
                <a:gd name="connsiteX2" fmla="*/ 365547 w 596852"/>
                <a:gd name="connsiteY2" fmla="*/ 285947 h 606800"/>
                <a:gd name="connsiteX3" fmla="*/ 372312 w 596852"/>
                <a:gd name="connsiteY3" fmla="*/ 288725 h 606800"/>
                <a:gd name="connsiteX4" fmla="*/ 379125 w 596852"/>
                <a:gd name="connsiteY4" fmla="*/ 285947 h 606800"/>
                <a:gd name="connsiteX5" fmla="*/ 398606 w 596852"/>
                <a:gd name="connsiteY5" fmla="*/ 266497 h 606800"/>
                <a:gd name="connsiteX6" fmla="*/ 398606 w 596852"/>
                <a:gd name="connsiteY6" fmla="*/ 252940 h 606800"/>
                <a:gd name="connsiteX7" fmla="*/ 385027 w 596852"/>
                <a:gd name="connsiteY7" fmla="*/ 252940 h 606800"/>
                <a:gd name="connsiteX8" fmla="*/ 256602 w 596852"/>
                <a:gd name="connsiteY8" fmla="*/ 251001 h 606800"/>
                <a:gd name="connsiteX9" fmla="*/ 295311 w 596852"/>
                <a:gd name="connsiteY9" fmla="*/ 307103 h 606800"/>
                <a:gd name="connsiteX10" fmla="*/ 358005 w 596852"/>
                <a:gd name="connsiteY10" fmla="*/ 348640 h 606800"/>
                <a:gd name="connsiteX11" fmla="*/ 358053 w 596852"/>
                <a:gd name="connsiteY11" fmla="*/ 348688 h 606800"/>
                <a:gd name="connsiteX12" fmla="*/ 106176 w 596852"/>
                <a:gd name="connsiteY12" fmla="*/ 600261 h 606800"/>
                <a:gd name="connsiteX13" fmla="*/ 74613 w 596852"/>
                <a:gd name="connsiteY13" fmla="*/ 600261 h 606800"/>
                <a:gd name="connsiteX14" fmla="*/ 6547 w 596852"/>
                <a:gd name="connsiteY14" fmla="*/ 532277 h 606800"/>
                <a:gd name="connsiteX15" fmla="*/ 6547 w 596852"/>
                <a:gd name="connsiteY15" fmla="*/ 500753 h 606800"/>
                <a:gd name="connsiteX16" fmla="*/ 358733 w 596852"/>
                <a:gd name="connsiteY16" fmla="*/ 226688 h 606800"/>
                <a:gd name="connsiteX17" fmla="*/ 339253 w 596852"/>
                <a:gd name="connsiteY17" fmla="*/ 246137 h 606800"/>
                <a:gd name="connsiteX18" fmla="*/ 339253 w 596852"/>
                <a:gd name="connsiteY18" fmla="*/ 259695 h 606800"/>
                <a:gd name="connsiteX19" fmla="*/ 346018 w 596852"/>
                <a:gd name="connsiteY19" fmla="*/ 262473 h 606800"/>
                <a:gd name="connsiteX20" fmla="*/ 352832 w 596852"/>
                <a:gd name="connsiteY20" fmla="*/ 259695 h 606800"/>
                <a:gd name="connsiteX21" fmla="*/ 372312 w 596852"/>
                <a:gd name="connsiteY21" fmla="*/ 240245 h 606800"/>
                <a:gd name="connsiteX22" fmla="*/ 372312 w 596852"/>
                <a:gd name="connsiteY22" fmla="*/ 226688 h 606800"/>
                <a:gd name="connsiteX23" fmla="*/ 358733 w 596852"/>
                <a:gd name="connsiteY23" fmla="*/ 226688 h 606800"/>
                <a:gd name="connsiteX24" fmla="*/ 332440 w 596852"/>
                <a:gd name="connsiteY24" fmla="*/ 200436 h 606800"/>
                <a:gd name="connsiteX25" fmla="*/ 312959 w 596852"/>
                <a:gd name="connsiteY25" fmla="*/ 219885 h 606800"/>
                <a:gd name="connsiteX26" fmla="*/ 312959 w 596852"/>
                <a:gd name="connsiteY26" fmla="*/ 233443 h 606800"/>
                <a:gd name="connsiteX27" fmla="*/ 319773 w 596852"/>
                <a:gd name="connsiteY27" fmla="*/ 236269 h 606800"/>
                <a:gd name="connsiteX28" fmla="*/ 326538 w 596852"/>
                <a:gd name="connsiteY28" fmla="*/ 233443 h 606800"/>
                <a:gd name="connsiteX29" fmla="*/ 346018 w 596852"/>
                <a:gd name="connsiteY29" fmla="*/ 213993 h 606800"/>
                <a:gd name="connsiteX30" fmla="*/ 346018 w 596852"/>
                <a:gd name="connsiteY30" fmla="*/ 200436 h 606800"/>
                <a:gd name="connsiteX31" fmla="*/ 332440 w 596852"/>
                <a:gd name="connsiteY31" fmla="*/ 200436 h 606800"/>
                <a:gd name="connsiteX32" fmla="*/ 569108 w 596852"/>
                <a:gd name="connsiteY32" fmla="*/ 93394 h 606800"/>
                <a:gd name="connsiteX33" fmla="*/ 582458 w 596852"/>
                <a:gd name="connsiteY33" fmla="*/ 103921 h 606800"/>
                <a:gd name="connsiteX34" fmla="*/ 559525 w 596852"/>
                <a:gd name="connsiteY34" fmla="*/ 280639 h 606800"/>
                <a:gd name="connsiteX35" fmla="*/ 532369 w 596852"/>
                <a:gd name="connsiteY35" fmla="*/ 282076 h 606800"/>
                <a:gd name="connsiteX36" fmla="*/ 463570 w 596852"/>
                <a:gd name="connsiteY36" fmla="*/ 213382 h 606800"/>
                <a:gd name="connsiteX37" fmla="*/ 463570 w 596852"/>
                <a:gd name="connsiteY37" fmla="*/ 187609 h 606800"/>
                <a:gd name="connsiteX38" fmla="*/ 552808 w 596852"/>
                <a:gd name="connsiteY38" fmla="*/ 98460 h 606800"/>
                <a:gd name="connsiteX39" fmla="*/ 569108 w 596852"/>
                <a:gd name="connsiteY39" fmla="*/ 93394 h 606800"/>
                <a:gd name="connsiteX40" fmla="*/ 429313 w 596852"/>
                <a:gd name="connsiteY40" fmla="*/ 0 h 606800"/>
                <a:gd name="connsiteX41" fmla="*/ 500949 w 596852"/>
                <a:gd name="connsiteY41" fmla="*/ 15378 h 606800"/>
                <a:gd name="connsiteX42" fmla="*/ 505843 w 596852"/>
                <a:gd name="connsiteY42" fmla="*/ 42348 h 606800"/>
                <a:gd name="connsiteX43" fmla="*/ 398366 w 596852"/>
                <a:gd name="connsiteY43" fmla="*/ 149656 h 606800"/>
                <a:gd name="connsiteX44" fmla="*/ 398366 w 596852"/>
                <a:gd name="connsiteY44" fmla="*/ 196891 h 606800"/>
                <a:gd name="connsiteX45" fmla="*/ 505939 w 596852"/>
                <a:gd name="connsiteY45" fmla="*/ 304342 h 606800"/>
                <a:gd name="connsiteX46" fmla="*/ 501093 w 596852"/>
                <a:gd name="connsiteY46" fmla="*/ 331122 h 606800"/>
                <a:gd name="connsiteX47" fmla="*/ 429313 w 596852"/>
                <a:gd name="connsiteY47" fmla="*/ 346547 h 606800"/>
                <a:gd name="connsiteX48" fmla="*/ 370489 w 596852"/>
                <a:gd name="connsiteY48" fmla="*/ 336343 h 606800"/>
                <a:gd name="connsiteX49" fmla="*/ 306626 w 596852"/>
                <a:gd name="connsiteY49" fmla="*/ 295815 h 606800"/>
                <a:gd name="connsiteX50" fmla="*/ 268769 w 596852"/>
                <a:gd name="connsiteY50" fmla="*/ 238856 h 606800"/>
                <a:gd name="connsiteX51" fmla="*/ 306626 w 596852"/>
                <a:gd name="connsiteY51" fmla="*/ 50732 h 606800"/>
                <a:gd name="connsiteX52" fmla="*/ 429313 w 596852"/>
                <a:gd name="connsiteY52" fmla="*/ 0 h 60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6852" h="606800">
                  <a:moveTo>
                    <a:pt x="385027" y="252940"/>
                  </a:moveTo>
                  <a:lnTo>
                    <a:pt x="365547" y="272390"/>
                  </a:lnTo>
                  <a:cubicBezTo>
                    <a:pt x="361804" y="276126"/>
                    <a:pt x="361804" y="282210"/>
                    <a:pt x="365547" y="285947"/>
                  </a:cubicBezTo>
                  <a:cubicBezTo>
                    <a:pt x="367418" y="287815"/>
                    <a:pt x="369865" y="288725"/>
                    <a:pt x="372312" y="288725"/>
                  </a:cubicBezTo>
                  <a:cubicBezTo>
                    <a:pt x="374759" y="288725"/>
                    <a:pt x="377254" y="287815"/>
                    <a:pt x="379125" y="285947"/>
                  </a:cubicBezTo>
                  <a:lnTo>
                    <a:pt x="398606" y="266497"/>
                  </a:lnTo>
                  <a:cubicBezTo>
                    <a:pt x="402348" y="262761"/>
                    <a:pt x="402348" y="256677"/>
                    <a:pt x="398606" y="252940"/>
                  </a:cubicBezTo>
                  <a:cubicBezTo>
                    <a:pt x="394863" y="249203"/>
                    <a:pt x="388770" y="249203"/>
                    <a:pt x="385027" y="252940"/>
                  </a:cubicBezTo>
                  <a:close/>
                  <a:moveTo>
                    <a:pt x="256602" y="251001"/>
                  </a:moveTo>
                  <a:cubicBezTo>
                    <a:pt x="265955" y="271937"/>
                    <a:pt x="278955" y="290766"/>
                    <a:pt x="295311" y="307103"/>
                  </a:cubicBezTo>
                  <a:cubicBezTo>
                    <a:pt x="313395" y="325165"/>
                    <a:pt x="334501" y="339154"/>
                    <a:pt x="358005" y="348640"/>
                  </a:cubicBezTo>
                  <a:cubicBezTo>
                    <a:pt x="358005" y="348688"/>
                    <a:pt x="358053" y="348688"/>
                    <a:pt x="358053" y="348688"/>
                  </a:cubicBezTo>
                  <a:lnTo>
                    <a:pt x="106176" y="600261"/>
                  </a:lnTo>
                  <a:cubicBezTo>
                    <a:pt x="97446" y="608980"/>
                    <a:pt x="83295" y="608980"/>
                    <a:pt x="74613" y="600261"/>
                  </a:cubicBezTo>
                  <a:lnTo>
                    <a:pt x="6547" y="532277"/>
                  </a:lnTo>
                  <a:cubicBezTo>
                    <a:pt x="-2183" y="523605"/>
                    <a:pt x="-2183" y="509472"/>
                    <a:pt x="6547" y="500753"/>
                  </a:cubicBezTo>
                  <a:close/>
                  <a:moveTo>
                    <a:pt x="358733" y="226688"/>
                  </a:moveTo>
                  <a:lnTo>
                    <a:pt x="339253" y="246137"/>
                  </a:lnTo>
                  <a:cubicBezTo>
                    <a:pt x="335511" y="249874"/>
                    <a:pt x="335511" y="255958"/>
                    <a:pt x="339253" y="259695"/>
                  </a:cubicBezTo>
                  <a:cubicBezTo>
                    <a:pt x="341124" y="261563"/>
                    <a:pt x="343571" y="262473"/>
                    <a:pt x="346018" y="262473"/>
                  </a:cubicBezTo>
                  <a:cubicBezTo>
                    <a:pt x="348513" y="262473"/>
                    <a:pt x="350960" y="261563"/>
                    <a:pt x="352832" y="259695"/>
                  </a:cubicBezTo>
                  <a:lnTo>
                    <a:pt x="372312" y="240245"/>
                  </a:lnTo>
                  <a:cubicBezTo>
                    <a:pt x="376055" y="236509"/>
                    <a:pt x="376055" y="230425"/>
                    <a:pt x="372312" y="226688"/>
                  </a:cubicBezTo>
                  <a:cubicBezTo>
                    <a:pt x="368569" y="222951"/>
                    <a:pt x="362476" y="222951"/>
                    <a:pt x="358733" y="226688"/>
                  </a:cubicBezTo>
                  <a:close/>
                  <a:moveTo>
                    <a:pt x="332440" y="200436"/>
                  </a:moveTo>
                  <a:lnTo>
                    <a:pt x="312959" y="219885"/>
                  </a:lnTo>
                  <a:cubicBezTo>
                    <a:pt x="309217" y="223622"/>
                    <a:pt x="309217" y="229706"/>
                    <a:pt x="312959" y="233443"/>
                  </a:cubicBezTo>
                  <a:cubicBezTo>
                    <a:pt x="314831" y="235311"/>
                    <a:pt x="317278" y="236269"/>
                    <a:pt x="319773" y="236269"/>
                  </a:cubicBezTo>
                  <a:cubicBezTo>
                    <a:pt x="322220" y="236269"/>
                    <a:pt x="324667" y="235311"/>
                    <a:pt x="326538" y="233443"/>
                  </a:cubicBezTo>
                  <a:lnTo>
                    <a:pt x="346018" y="213993"/>
                  </a:lnTo>
                  <a:cubicBezTo>
                    <a:pt x="349761" y="210256"/>
                    <a:pt x="349761" y="204172"/>
                    <a:pt x="346018" y="200436"/>
                  </a:cubicBezTo>
                  <a:cubicBezTo>
                    <a:pt x="342276" y="196699"/>
                    <a:pt x="336182" y="196699"/>
                    <a:pt x="332440" y="200436"/>
                  </a:cubicBezTo>
                  <a:close/>
                  <a:moveTo>
                    <a:pt x="569108" y="93394"/>
                  </a:moveTo>
                  <a:cubicBezTo>
                    <a:pt x="574745" y="94424"/>
                    <a:pt x="579891" y="98053"/>
                    <a:pt x="582458" y="103921"/>
                  </a:cubicBezTo>
                  <a:cubicBezTo>
                    <a:pt x="607502" y="161406"/>
                    <a:pt x="599874" y="229717"/>
                    <a:pt x="559525" y="280639"/>
                  </a:cubicBezTo>
                  <a:cubicBezTo>
                    <a:pt x="552760" y="289118"/>
                    <a:pt x="540046" y="289741"/>
                    <a:pt x="532369" y="282076"/>
                  </a:cubicBezTo>
                  <a:lnTo>
                    <a:pt x="463570" y="213382"/>
                  </a:lnTo>
                  <a:cubicBezTo>
                    <a:pt x="456421" y="206244"/>
                    <a:pt x="456421" y="194699"/>
                    <a:pt x="463570" y="187609"/>
                  </a:cubicBezTo>
                  <a:lnTo>
                    <a:pt x="552808" y="98460"/>
                  </a:lnTo>
                  <a:cubicBezTo>
                    <a:pt x="557341" y="93933"/>
                    <a:pt x="563470" y="92364"/>
                    <a:pt x="569108" y="93394"/>
                  </a:cubicBezTo>
                  <a:close/>
                  <a:moveTo>
                    <a:pt x="429313" y="0"/>
                  </a:moveTo>
                  <a:cubicBezTo>
                    <a:pt x="453784" y="0"/>
                    <a:pt x="478254" y="5126"/>
                    <a:pt x="500949" y="15378"/>
                  </a:cubicBezTo>
                  <a:cubicBezTo>
                    <a:pt x="511553" y="20168"/>
                    <a:pt x="514096" y="34109"/>
                    <a:pt x="505843" y="42348"/>
                  </a:cubicBezTo>
                  <a:lnTo>
                    <a:pt x="398366" y="149656"/>
                  </a:lnTo>
                  <a:cubicBezTo>
                    <a:pt x="385267" y="162686"/>
                    <a:pt x="385267" y="183861"/>
                    <a:pt x="398366" y="196891"/>
                  </a:cubicBezTo>
                  <a:lnTo>
                    <a:pt x="505939" y="304342"/>
                  </a:lnTo>
                  <a:cubicBezTo>
                    <a:pt x="514144" y="312534"/>
                    <a:pt x="511601" y="326331"/>
                    <a:pt x="501093" y="331122"/>
                  </a:cubicBezTo>
                  <a:cubicBezTo>
                    <a:pt x="478350" y="341421"/>
                    <a:pt x="453832" y="346547"/>
                    <a:pt x="429313" y="346547"/>
                  </a:cubicBezTo>
                  <a:cubicBezTo>
                    <a:pt x="409401" y="346547"/>
                    <a:pt x="389441" y="343146"/>
                    <a:pt x="370489" y="336343"/>
                  </a:cubicBezTo>
                  <a:cubicBezTo>
                    <a:pt x="347170" y="327960"/>
                    <a:pt x="325291" y="314450"/>
                    <a:pt x="306626" y="295815"/>
                  </a:cubicBezTo>
                  <a:cubicBezTo>
                    <a:pt x="289833" y="279048"/>
                    <a:pt x="277214" y="259599"/>
                    <a:pt x="268769" y="238856"/>
                  </a:cubicBezTo>
                  <a:cubicBezTo>
                    <a:pt x="243243" y="176196"/>
                    <a:pt x="255862" y="101416"/>
                    <a:pt x="306626" y="50732"/>
                  </a:cubicBezTo>
                  <a:cubicBezTo>
                    <a:pt x="340501" y="16911"/>
                    <a:pt x="384931" y="0"/>
                    <a:pt x="429313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58" name="Group 7"/>
          <p:cNvGrpSpPr/>
          <p:nvPr>
            <p:custDataLst>
              <p:tags r:id="rId31"/>
            </p:custDataLst>
          </p:nvPr>
        </p:nvGrpSpPr>
        <p:grpSpPr>
          <a:xfrm>
            <a:off x="8345170" y="2534920"/>
            <a:ext cx="873125" cy="900430"/>
            <a:chOff x="10010259" y="3170881"/>
            <a:chExt cx="820800" cy="820800"/>
          </a:xfrm>
        </p:grpSpPr>
        <p:sp>
          <p:nvSpPr>
            <p:cNvPr id="59" name="íṥļîḓê"/>
            <p:cNvSpPr/>
            <p:nvPr>
              <p:custDataLst>
                <p:tags r:id="rId32"/>
              </p:custDataLst>
            </p:nvPr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60" name="íṥlíḓê"/>
            <p:cNvSpPr/>
            <p:nvPr>
              <p:custDataLst>
                <p:tags r:id="rId33"/>
              </p:custDataLst>
            </p:nvPr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61" name="ïśļiḑé"/>
            <p:cNvSpPr/>
            <p:nvPr>
              <p:custDataLst>
                <p:tags r:id="rId34"/>
              </p:custDataLst>
            </p:nvPr>
          </p:nvSpPr>
          <p:spPr>
            <a:xfrm>
              <a:off x="10199011" y="3392771"/>
              <a:ext cx="443293" cy="377256"/>
            </a:xfrm>
            <a:custGeom>
              <a:avLst/>
              <a:gdLst>
                <a:gd name="T0" fmla="*/ 233 w 1299"/>
                <a:gd name="T1" fmla="*/ 5 h 1107"/>
                <a:gd name="T2" fmla="*/ 0 w 1299"/>
                <a:gd name="T3" fmla="*/ 122 h 1107"/>
                <a:gd name="T4" fmla="*/ 0 w 1299"/>
                <a:gd name="T5" fmla="*/ 168 h 1107"/>
                <a:gd name="T6" fmla="*/ 233 w 1299"/>
                <a:gd name="T7" fmla="*/ 962 h 1107"/>
                <a:gd name="T8" fmla="*/ 0 w 1299"/>
                <a:gd name="T9" fmla="*/ 168 h 1107"/>
                <a:gd name="T10" fmla="*/ 116 w 1299"/>
                <a:gd name="T11" fmla="*/ 888 h 1107"/>
                <a:gd name="T12" fmla="*/ 116 w 1299"/>
                <a:gd name="T13" fmla="*/ 742 h 1107"/>
                <a:gd name="T14" fmla="*/ 0 w 1299"/>
                <a:gd name="T15" fmla="*/ 1102 h 1107"/>
                <a:gd name="T16" fmla="*/ 233 w 1299"/>
                <a:gd name="T17" fmla="*/ 1008 h 1107"/>
                <a:gd name="T18" fmla="*/ 0 w 1299"/>
                <a:gd name="T19" fmla="*/ 1102 h 1107"/>
                <a:gd name="T20" fmla="*/ 280 w 1299"/>
                <a:gd name="T21" fmla="*/ 1008 h 1107"/>
                <a:gd name="T22" fmla="*/ 583 w 1299"/>
                <a:gd name="T23" fmla="*/ 1102 h 1107"/>
                <a:gd name="T24" fmla="*/ 443 w 1299"/>
                <a:gd name="T25" fmla="*/ 962 h 1107"/>
                <a:gd name="T26" fmla="*/ 280 w 1299"/>
                <a:gd name="T27" fmla="*/ 321 h 1107"/>
                <a:gd name="T28" fmla="*/ 583 w 1299"/>
                <a:gd name="T29" fmla="*/ 321 h 1107"/>
                <a:gd name="T30" fmla="*/ 280 w 1299"/>
                <a:gd name="T31" fmla="*/ 238 h 1107"/>
                <a:gd name="T32" fmla="*/ 280 w 1299"/>
                <a:gd name="T33" fmla="*/ 371 h 1107"/>
                <a:gd name="T34" fmla="*/ 443 w 1299"/>
                <a:gd name="T35" fmla="*/ 915 h 1107"/>
                <a:gd name="T36" fmla="*/ 583 w 1299"/>
                <a:gd name="T37" fmla="*/ 374 h 1107"/>
                <a:gd name="T38" fmla="*/ 280 w 1299"/>
                <a:gd name="T39" fmla="*/ 371 h 1107"/>
                <a:gd name="T40" fmla="*/ 918 w 1299"/>
                <a:gd name="T41" fmla="*/ 33 h 1107"/>
                <a:gd name="T42" fmla="*/ 1102 w 1299"/>
                <a:gd name="T43" fmla="*/ 114 h 1107"/>
                <a:gd name="T44" fmla="*/ 1270 w 1299"/>
                <a:gd name="T45" fmla="*/ 937 h 1107"/>
                <a:gd name="T46" fmla="*/ 951 w 1299"/>
                <a:gd name="T47" fmla="*/ 193 h 1107"/>
                <a:gd name="T48" fmla="*/ 1270 w 1299"/>
                <a:gd name="T49" fmla="*/ 937 h 1107"/>
                <a:gd name="T50" fmla="*/ 1145 w 1299"/>
                <a:gd name="T51" fmla="*/ 738 h 1107"/>
                <a:gd name="T52" fmla="*/ 1174 w 1299"/>
                <a:gd name="T53" fmla="*/ 881 h 1107"/>
                <a:gd name="T54" fmla="*/ 1280 w 1299"/>
                <a:gd name="T55" fmla="*/ 983 h 1107"/>
                <a:gd name="T56" fmla="*/ 1139 w 1299"/>
                <a:gd name="T57" fmla="*/ 1107 h 1107"/>
                <a:gd name="T58" fmla="*/ 1280 w 1299"/>
                <a:gd name="T59" fmla="*/ 983 h 1107"/>
                <a:gd name="T60" fmla="*/ 887 w 1299"/>
                <a:gd name="T61" fmla="*/ 122 h 1107"/>
                <a:gd name="T62" fmla="*/ 653 w 1299"/>
                <a:gd name="T63" fmla="*/ 5 h 1107"/>
                <a:gd name="T64" fmla="*/ 653 w 1299"/>
                <a:gd name="T65" fmla="*/ 1102 h 1107"/>
                <a:gd name="T66" fmla="*/ 887 w 1299"/>
                <a:gd name="T67" fmla="*/ 1008 h 1107"/>
                <a:gd name="T68" fmla="*/ 653 w 1299"/>
                <a:gd name="T69" fmla="*/ 1102 h 1107"/>
                <a:gd name="T70" fmla="*/ 887 w 1299"/>
                <a:gd name="T71" fmla="*/ 845 h 1107"/>
                <a:gd name="T72" fmla="*/ 653 w 1299"/>
                <a:gd name="T73" fmla="*/ 285 h 1107"/>
                <a:gd name="T74" fmla="*/ 653 w 1299"/>
                <a:gd name="T75" fmla="*/ 962 h 1107"/>
                <a:gd name="T76" fmla="*/ 887 w 1299"/>
                <a:gd name="T77" fmla="*/ 892 h 1107"/>
                <a:gd name="T78" fmla="*/ 653 w 1299"/>
                <a:gd name="T79" fmla="*/ 962 h 1107"/>
                <a:gd name="T80" fmla="*/ 887 w 1299"/>
                <a:gd name="T81" fmla="*/ 238 h 1107"/>
                <a:gd name="T82" fmla="*/ 653 w 1299"/>
                <a:gd name="T83" fmla="*/ 168 h 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99" h="1107">
                  <a:moveTo>
                    <a:pt x="0" y="5"/>
                  </a:moveTo>
                  <a:lnTo>
                    <a:pt x="233" y="5"/>
                  </a:lnTo>
                  <a:lnTo>
                    <a:pt x="233" y="122"/>
                  </a:lnTo>
                  <a:lnTo>
                    <a:pt x="0" y="122"/>
                  </a:lnTo>
                  <a:lnTo>
                    <a:pt x="0" y="5"/>
                  </a:lnTo>
                  <a:close/>
                  <a:moveTo>
                    <a:pt x="0" y="168"/>
                  </a:moveTo>
                  <a:lnTo>
                    <a:pt x="233" y="168"/>
                  </a:lnTo>
                  <a:lnTo>
                    <a:pt x="233" y="962"/>
                  </a:lnTo>
                  <a:lnTo>
                    <a:pt x="0" y="962"/>
                  </a:lnTo>
                  <a:lnTo>
                    <a:pt x="0" y="168"/>
                  </a:lnTo>
                  <a:close/>
                  <a:moveTo>
                    <a:pt x="43" y="815"/>
                  </a:moveTo>
                  <a:cubicBezTo>
                    <a:pt x="43" y="855"/>
                    <a:pt x="75" y="888"/>
                    <a:pt x="116" y="888"/>
                  </a:cubicBezTo>
                  <a:cubicBezTo>
                    <a:pt x="156" y="888"/>
                    <a:pt x="189" y="855"/>
                    <a:pt x="189" y="815"/>
                  </a:cubicBezTo>
                  <a:cubicBezTo>
                    <a:pt x="189" y="775"/>
                    <a:pt x="156" y="742"/>
                    <a:pt x="116" y="742"/>
                  </a:cubicBezTo>
                  <a:cubicBezTo>
                    <a:pt x="75" y="742"/>
                    <a:pt x="43" y="775"/>
                    <a:pt x="43" y="815"/>
                  </a:cubicBezTo>
                  <a:close/>
                  <a:moveTo>
                    <a:pt x="0" y="1102"/>
                  </a:moveTo>
                  <a:lnTo>
                    <a:pt x="233" y="1102"/>
                  </a:lnTo>
                  <a:lnTo>
                    <a:pt x="233" y="1008"/>
                  </a:lnTo>
                  <a:lnTo>
                    <a:pt x="0" y="1008"/>
                  </a:lnTo>
                  <a:lnTo>
                    <a:pt x="0" y="1102"/>
                  </a:lnTo>
                  <a:close/>
                  <a:moveTo>
                    <a:pt x="280" y="992"/>
                  </a:moveTo>
                  <a:lnTo>
                    <a:pt x="280" y="1008"/>
                  </a:lnTo>
                  <a:lnTo>
                    <a:pt x="280" y="1102"/>
                  </a:lnTo>
                  <a:lnTo>
                    <a:pt x="583" y="1102"/>
                  </a:lnTo>
                  <a:lnTo>
                    <a:pt x="583" y="991"/>
                  </a:lnTo>
                  <a:cubicBezTo>
                    <a:pt x="571" y="983"/>
                    <a:pt x="532" y="962"/>
                    <a:pt x="443" y="962"/>
                  </a:cubicBezTo>
                  <a:cubicBezTo>
                    <a:pt x="359" y="962"/>
                    <a:pt x="305" y="981"/>
                    <a:pt x="280" y="992"/>
                  </a:cubicBezTo>
                  <a:close/>
                  <a:moveTo>
                    <a:pt x="280" y="321"/>
                  </a:moveTo>
                  <a:cubicBezTo>
                    <a:pt x="305" y="332"/>
                    <a:pt x="359" y="351"/>
                    <a:pt x="443" y="351"/>
                  </a:cubicBezTo>
                  <a:cubicBezTo>
                    <a:pt x="532" y="351"/>
                    <a:pt x="570" y="330"/>
                    <a:pt x="583" y="321"/>
                  </a:cubicBezTo>
                  <a:lnTo>
                    <a:pt x="583" y="238"/>
                  </a:lnTo>
                  <a:lnTo>
                    <a:pt x="280" y="238"/>
                  </a:lnTo>
                  <a:lnTo>
                    <a:pt x="280" y="321"/>
                  </a:lnTo>
                  <a:close/>
                  <a:moveTo>
                    <a:pt x="280" y="371"/>
                  </a:moveTo>
                  <a:lnTo>
                    <a:pt x="280" y="941"/>
                  </a:lnTo>
                  <a:cubicBezTo>
                    <a:pt x="314" y="929"/>
                    <a:pt x="368" y="915"/>
                    <a:pt x="443" y="915"/>
                  </a:cubicBezTo>
                  <a:cubicBezTo>
                    <a:pt x="511" y="915"/>
                    <a:pt x="556" y="926"/>
                    <a:pt x="583" y="939"/>
                  </a:cubicBezTo>
                  <a:lnTo>
                    <a:pt x="583" y="374"/>
                  </a:lnTo>
                  <a:cubicBezTo>
                    <a:pt x="556" y="386"/>
                    <a:pt x="511" y="398"/>
                    <a:pt x="443" y="398"/>
                  </a:cubicBezTo>
                  <a:cubicBezTo>
                    <a:pt x="368" y="398"/>
                    <a:pt x="314" y="384"/>
                    <a:pt x="280" y="371"/>
                  </a:cubicBezTo>
                  <a:close/>
                  <a:moveTo>
                    <a:pt x="1078" y="0"/>
                  </a:moveTo>
                  <a:lnTo>
                    <a:pt x="918" y="33"/>
                  </a:lnTo>
                  <a:lnTo>
                    <a:pt x="942" y="147"/>
                  </a:lnTo>
                  <a:lnTo>
                    <a:pt x="1102" y="114"/>
                  </a:lnTo>
                  <a:lnTo>
                    <a:pt x="1078" y="0"/>
                  </a:lnTo>
                  <a:close/>
                  <a:moveTo>
                    <a:pt x="1270" y="937"/>
                  </a:moveTo>
                  <a:lnTo>
                    <a:pt x="1110" y="970"/>
                  </a:lnTo>
                  <a:lnTo>
                    <a:pt x="951" y="193"/>
                  </a:lnTo>
                  <a:lnTo>
                    <a:pt x="1111" y="160"/>
                  </a:lnTo>
                  <a:lnTo>
                    <a:pt x="1270" y="937"/>
                  </a:lnTo>
                  <a:close/>
                  <a:moveTo>
                    <a:pt x="1215" y="798"/>
                  </a:moveTo>
                  <a:cubicBezTo>
                    <a:pt x="1207" y="759"/>
                    <a:pt x="1175" y="732"/>
                    <a:pt x="1145" y="738"/>
                  </a:cubicBezTo>
                  <a:cubicBezTo>
                    <a:pt x="1114" y="745"/>
                    <a:pt x="1095" y="782"/>
                    <a:pt x="1104" y="821"/>
                  </a:cubicBezTo>
                  <a:cubicBezTo>
                    <a:pt x="1112" y="861"/>
                    <a:pt x="1143" y="888"/>
                    <a:pt x="1174" y="881"/>
                  </a:cubicBezTo>
                  <a:cubicBezTo>
                    <a:pt x="1205" y="875"/>
                    <a:pt x="1223" y="838"/>
                    <a:pt x="1215" y="798"/>
                  </a:cubicBezTo>
                  <a:close/>
                  <a:moveTo>
                    <a:pt x="1280" y="983"/>
                  </a:moveTo>
                  <a:lnTo>
                    <a:pt x="1120" y="1015"/>
                  </a:lnTo>
                  <a:lnTo>
                    <a:pt x="1139" y="1107"/>
                  </a:lnTo>
                  <a:lnTo>
                    <a:pt x="1299" y="1074"/>
                  </a:lnTo>
                  <a:lnTo>
                    <a:pt x="1280" y="983"/>
                  </a:lnTo>
                  <a:close/>
                  <a:moveTo>
                    <a:pt x="653" y="122"/>
                  </a:moveTo>
                  <a:lnTo>
                    <a:pt x="887" y="122"/>
                  </a:lnTo>
                  <a:lnTo>
                    <a:pt x="887" y="5"/>
                  </a:lnTo>
                  <a:lnTo>
                    <a:pt x="653" y="5"/>
                  </a:lnTo>
                  <a:lnTo>
                    <a:pt x="653" y="122"/>
                  </a:lnTo>
                  <a:close/>
                  <a:moveTo>
                    <a:pt x="653" y="1102"/>
                  </a:moveTo>
                  <a:lnTo>
                    <a:pt x="887" y="1102"/>
                  </a:lnTo>
                  <a:lnTo>
                    <a:pt x="887" y="1008"/>
                  </a:lnTo>
                  <a:lnTo>
                    <a:pt x="653" y="1008"/>
                  </a:lnTo>
                  <a:lnTo>
                    <a:pt x="653" y="1102"/>
                  </a:lnTo>
                  <a:close/>
                  <a:moveTo>
                    <a:pt x="653" y="845"/>
                  </a:moveTo>
                  <a:lnTo>
                    <a:pt x="887" y="845"/>
                  </a:lnTo>
                  <a:lnTo>
                    <a:pt x="887" y="285"/>
                  </a:lnTo>
                  <a:lnTo>
                    <a:pt x="653" y="285"/>
                  </a:lnTo>
                  <a:lnTo>
                    <a:pt x="653" y="845"/>
                  </a:lnTo>
                  <a:close/>
                  <a:moveTo>
                    <a:pt x="653" y="962"/>
                  </a:moveTo>
                  <a:lnTo>
                    <a:pt x="887" y="962"/>
                  </a:lnTo>
                  <a:lnTo>
                    <a:pt x="887" y="892"/>
                  </a:lnTo>
                  <a:lnTo>
                    <a:pt x="653" y="892"/>
                  </a:lnTo>
                  <a:lnTo>
                    <a:pt x="653" y="962"/>
                  </a:lnTo>
                  <a:close/>
                  <a:moveTo>
                    <a:pt x="653" y="238"/>
                  </a:moveTo>
                  <a:lnTo>
                    <a:pt x="887" y="238"/>
                  </a:lnTo>
                  <a:lnTo>
                    <a:pt x="887" y="168"/>
                  </a:lnTo>
                  <a:lnTo>
                    <a:pt x="653" y="168"/>
                  </a:lnTo>
                  <a:lnTo>
                    <a:pt x="653" y="238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>
            <p:custDataLst>
              <p:tags r:id="rId1"/>
            </p:custDataLst>
          </p:nvPr>
        </p:nvSpPr>
        <p:spPr>
          <a:xfrm>
            <a:off x="4598695" y="15484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1216933" y="347251"/>
            <a:ext cx="8920029" cy="399415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进度安排→图示✪</a:t>
            </a:r>
            <a:r>
              <a:rPr lang="en-US" altLang="zh-CN" dirty="0">
                <a:ea typeface="+mn-ea"/>
                <a:cs typeface="+mn-ea"/>
              </a:rPr>
              <a:t>05✪</a:t>
            </a:r>
            <a:r>
              <a:rPr lang="zh-CN" altLang="en-US" dirty="0">
                <a:ea typeface="+mn-ea"/>
                <a:cs typeface="+mn-ea"/>
              </a:rPr>
              <a:t>预期成果</a:t>
            </a:r>
            <a:r>
              <a:rPr lang="zh-CN" altLang="en-US" dirty="0">
                <a:ea typeface="+mn-ea"/>
                <a:cs typeface="+mn-ea"/>
              </a:rPr>
              <a:t>展示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915649" y="1228983"/>
            <a:ext cx="4290852" cy="461010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预期</a:t>
            </a:r>
            <a:r>
              <a:rPr lang="zh-CN" altLang="en-US" dirty="0">
                <a:ea typeface="+mn-ea"/>
                <a:cs typeface="+mn-ea"/>
              </a:rPr>
              <a:t>产出的成果如下</a:t>
            </a:r>
            <a:endParaRPr lang="zh-CN" altLang="en-US" dirty="0">
              <a:ea typeface="+mn-ea"/>
              <a:cs typeface="+mn-ea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 flipH="1">
            <a:off x="7490135" y="5938299"/>
            <a:ext cx="4028765" cy="72000"/>
            <a:chOff x="660400" y="5424930"/>
            <a:chExt cx="4028765" cy="72000"/>
          </a:xfrm>
        </p:grpSpPr>
        <p:cxnSp>
          <p:nvCxnSpPr>
            <p:cNvPr id="12" name="直接连接符 11"/>
            <p:cNvCxnSpPr>
              <a:stCxn id="13" idx="3"/>
            </p:cNvCxnSpPr>
            <p:nvPr>
              <p:custDataLst>
                <p:tags r:id="rId3"/>
              </p:custDataLst>
            </p:nvPr>
          </p:nvCxnSpPr>
          <p:spPr>
            <a:xfrm>
              <a:off x="1200400" y="5460930"/>
              <a:ext cx="3488765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>
              <p:custDataLst>
                <p:tags r:id="rId4"/>
              </p:custDataLst>
            </p:nvPr>
          </p:nvSpPr>
          <p:spPr>
            <a:xfrm>
              <a:off x="660400" y="5424930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 flipH="1">
            <a:off x="7273447" y="3751426"/>
            <a:ext cx="3859542" cy="371187"/>
            <a:chOff x="1017258" y="2819053"/>
            <a:chExt cx="3859542" cy="371187"/>
          </a:xfrm>
        </p:grpSpPr>
        <p:cxnSp>
          <p:nvCxnSpPr>
            <p:cNvPr id="15" name="直接连接符 14"/>
            <p:cNvCxnSpPr/>
            <p:nvPr>
              <p:custDataLst>
                <p:tags r:id="rId6"/>
              </p:custDataLst>
            </p:nvPr>
          </p:nvCxnSpPr>
          <p:spPr>
            <a:xfrm>
              <a:off x="1287258" y="2891053"/>
              <a:ext cx="0" cy="29918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7"/>
              </p:custDataLst>
            </p:nvPr>
          </p:nvCxnSpPr>
          <p:spPr>
            <a:xfrm>
              <a:off x="1287258" y="3190240"/>
              <a:ext cx="358954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>
              <p:custDataLst>
                <p:tags r:id="rId8"/>
              </p:custDataLst>
            </p:nvPr>
          </p:nvSpPr>
          <p:spPr>
            <a:xfrm>
              <a:off x="1017258" y="2819053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9"/>
            </p:custDataLst>
          </p:nvPr>
        </p:nvGrpSpPr>
        <p:grpSpPr>
          <a:xfrm>
            <a:off x="605155" y="4502991"/>
            <a:ext cx="4028765" cy="72000"/>
            <a:chOff x="660400" y="5424930"/>
            <a:chExt cx="4028765" cy="72000"/>
          </a:xfrm>
        </p:grpSpPr>
        <p:cxnSp>
          <p:nvCxnSpPr>
            <p:cNvPr id="19" name="直接连接符 18"/>
            <p:cNvCxnSpPr>
              <a:stCxn id="20" idx="3"/>
            </p:cNvCxnSpPr>
            <p:nvPr>
              <p:custDataLst>
                <p:tags r:id="rId10"/>
              </p:custDataLst>
            </p:nvPr>
          </p:nvCxnSpPr>
          <p:spPr>
            <a:xfrm>
              <a:off x="1200400" y="5460930"/>
              <a:ext cx="3488765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>
              <p:custDataLst>
                <p:tags r:id="rId11"/>
              </p:custDataLst>
            </p:nvPr>
          </p:nvSpPr>
          <p:spPr>
            <a:xfrm>
              <a:off x="660400" y="5424930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2"/>
            </p:custDataLst>
          </p:nvPr>
        </p:nvGrpSpPr>
        <p:grpSpPr>
          <a:xfrm>
            <a:off x="946773" y="2882656"/>
            <a:ext cx="3859542" cy="371187"/>
            <a:chOff x="1017258" y="3196675"/>
            <a:chExt cx="3859542" cy="371187"/>
          </a:xfrm>
        </p:grpSpPr>
        <p:cxnSp>
          <p:nvCxnSpPr>
            <p:cNvPr id="22" name="直接连接符 21"/>
            <p:cNvCxnSpPr/>
            <p:nvPr>
              <p:custDataLst>
                <p:tags r:id="rId13"/>
              </p:custDataLst>
            </p:nvPr>
          </p:nvCxnSpPr>
          <p:spPr>
            <a:xfrm>
              <a:off x="1287258" y="3268675"/>
              <a:ext cx="0" cy="29918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14"/>
              </p:custDataLst>
            </p:nvPr>
          </p:nvCxnSpPr>
          <p:spPr>
            <a:xfrm>
              <a:off x="1287258" y="3567862"/>
              <a:ext cx="358954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>
              <p:custDataLst>
                <p:tags r:id="rId15"/>
              </p:custDataLst>
            </p:nvPr>
          </p:nvSpPr>
          <p:spPr>
            <a:xfrm>
              <a:off x="1017258" y="3196675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sp>
        <p:nvSpPr>
          <p:cNvPr id="35" name="文本框 34"/>
          <p:cNvSpPr txBox="1"/>
          <p:nvPr>
            <p:custDataLst>
              <p:tags r:id="rId16"/>
            </p:custDataLst>
          </p:nvPr>
        </p:nvSpPr>
        <p:spPr>
          <a:xfrm>
            <a:off x="223520" y="4016375"/>
            <a:ext cx="4570095" cy="3987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开发基于持续学习的设备识别模型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17"/>
            </p:custDataLst>
          </p:nvPr>
        </p:nvSpPr>
        <p:spPr>
          <a:xfrm>
            <a:off x="7973695" y="5351780"/>
            <a:ext cx="3841750" cy="3987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发表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CCF 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类以上会议论文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篇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18"/>
            </p:custDataLst>
          </p:nvPr>
        </p:nvSpPr>
        <p:spPr>
          <a:xfrm>
            <a:off x="356870" y="2444115"/>
            <a:ext cx="3950335" cy="3987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构建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套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LoRa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连续双帧信号数据集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9"/>
            </p:custDataLst>
          </p:nvPr>
        </p:nvSpPr>
        <p:spPr>
          <a:xfrm>
            <a:off x="7773035" y="3253740"/>
            <a:ext cx="3604260" cy="3987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申请国家发明专利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项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20"/>
            </p:custDataLst>
          </p:nvPr>
        </p:nvGrpSpPr>
        <p:grpSpPr>
          <a:xfrm>
            <a:off x="4689163" y="2250996"/>
            <a:ext cx="2813671" cy="4072640"/>
            <a:chOff x="4689163" y="2250996"/>
            <a:chExt cx="2813671" cy="4072640"/>
          </a:xfrm>
        </p:grpSpPr>
        <p:grpSp>
          <p:nvGrpSpPr>
            <p:cNvPr id="25" name="组合 24"/>
            <p:cNvGrpSpPr/>
            <p:nvPr/>
          </p:nvGrpSpPr>
          <p:grpSpPr>
            <a:xfrm>
              <a:off x="4689163" y="2250996"/>
              <a:ext cx="2813671" cy="4072640"/>
              <a:chOff x="5038726" y="2152651"/>
              <a:chExt cx="2114551" cy="3060702"/>
            </a:xfrm>
            <a:scene3d>
              <a:camera prst="perspectiveRelaxedModerately" fov="4200000"/>
              <a:lightRig rig="threePt" dir="t"/>
            </a:scene3d>
          </p:grpSpPr>
          <p:sp>
            <p:nvSpPr>
              <p:cNvPr id="26" name="îslïḍé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5038726" y="2152651"/>
                <a:ext cx="2114551" cy="3060702"/>
              </a:xfrm>
              <a:custGeom>
                <a:avLst/>
                <a:gdLst>
                  <a:gd name="T0" fmla="*/ 13 w 415"/>
                  <a:gd name="T1" fmla="*/ 0 h 601"/>
                  <a:gd name="T2" fmla="*/ 320 w 415"/>
                  <a:gd name="T3" fmla="*/ 0 h 601"/>
                  <a:gd name="T4" fmla="*/ 366 w 415"/>
                  <a:gd name="T5" fmla="*/ 46 h 601"/>
                  <a:gd name="T6" fmla="*/ 415 w 415"/>
                  <a:gd name="T7" fmla="*/ 95 h 601"/>
                  <a:gd name="T8" fmla="*/ 415 w 415"/>
                  <a:gd name="T9" fmla="*/ 587 h 601"/>
                  <a:gd name="T10" fmla="*/ 401 w 415"/>
                  <a:gd name="T11" fmla="*/ 601 h 601"/>
                  <a:gd name="T12" fmla="*/ 13 w 415"/>
                  <a:gd name="T13" fmla="*/ 601 h 601"/>
                  <a:gd name="T14" fmla="*/ 0 w 415"/>
                  <a:gd name="T15" fmla="*/ 587 h 601"/>
                  <a:gd name="T16" fmla="*/ 0 w 415"/>
                  <a:gd name="T17" fmla="*/ 13 h 601"/>
                  <a:gd name="T18" fmla="*/ 13 w 415"/>
                  <a:gd name="T19" fmla="*/ 0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5" h="601">
                    <a:moveTo>
                      <a:pt x="13" y="0"/>
                    </a:moveTo>
                    <a:cubicBezTo>
                      <a:pt x="320" y="0"/>
                      <a:pt x="320" y="0"/>
                      <a:pt x="320" y="0"/>
                    </a:cubicBezTo>
                    <a:cubicBezTo>
                      <a:pt x="366" y="46"/>
                      <a:pt x="366" y="46"/>
                      <a:pt x="366" y="46"/>
                    </a:cubicBezTo>
                    <a:cubicBezTo>
                      <a:pt x="415" y="95"/>
                      <a:pt x="415" y="95"/>
                      <a:pt x="415" y="95"/>
                    </a:cubicBezTo>
                    <a:cubicBezTo>
                      <a:pt x="415" y="587"/>
                      <a:pt x="415" y="587"/>
                      <a:pt x="415" y="587"/>
                    </a:cubicBezTo>
                    <a:cubicBezTo>
                      <a:pt x="415" y="595"/>
                      <a:pt x="409" y="601"/>
                      <a:pt x="401" y="601"/>
                    </a:cubicBezTo>
                    <a:cubicBezTo>
                      <a:pt x="13" y="601"/>
                      <a:pt x="13" y="601"/>
                      <a:pt x="13" y="601"/>
                    </a:cubicBezTo>
                    <a:cubicBezTo>
                      <a:pt x="6" y="601"/>
                      <a:pt x="0" y="595"/>
                      <a:pt x="0" y="587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7" name="îṩḷîḋê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6669089" y="2152651"/>
                <a:ext cx="484188" cy="482600"/>
              </a:xfrm>
              <a:custGeom>
                <a:avLst/>
                <a:gdLst>
                  <a:gd name="T0" fmla="*/ 95 w 95"/>
                  <a:gd name="T1" fmla="*/ 95 h 95"/>
                  <a:gd name="T2" fmla="*/ 14 w 95"/>
                  <a:gd name="T3" fmla="*/ 95 h 95"/>
                  <a:gd name="T4" fmla="*/ 0 w 95"/>
                  <a:gd name="T5" fmla="*/ 81 h 95"/>
                  <a:gd name="T6" fmla="*/ 0 w 95"/>
                  <a:gd name="T7" fmla="*/ 0 h 95"/>
                  <a:gd name="T8" fmla="*/ 49 w 95"/>
                  <a:gd name="T9" fmla="*/ 49 h 95"/>
                  <a:gd name="T10" fmla="*/ 95 w 95"/>
                  <a:gd name="T1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5" h="95">
                    <a:moveTo>
                      <a:pt x="95" y="95"/>
                    </a:moveTo>
                    <a:cubicBezTo>
                      <a:pt x="14" y="95"/>
                      <a:pt x="14" y="95"/>
                      <a:pt x="14" y="95"/>
                    </a:cubicBezTo>
                    <a:cubicBezTo>
                      <a:pt x="6" y="95"/>
                      <a:pt x="0" y="89"/>
                      <a:pt x="0" y="8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9" y="49"/>
                      <a:pt x="49" y="49"/>
                      <a:pt x="49" y="49"/>
                    </a:cubicBezTo>
                    <a:lnTo>
                      <a:pt x="95" y="95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8" name="ïṧḷïḍe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5364163" y="2784477"/>
                <a:ext cx="1503363" cy="50800"/>
              </a:xfrm>
              <a:custGeom>
                <a:avLst/>
                <a:gdLst>
                  <a:gd name="T0" fmla="*/ 5 w 295"/>
                  <a:gd name="T1" fmla="*/ 0 h 10"/>
                  <a:gd name="T2" fmla="*/ 290 w 295"/>
                  <a:gd name="T3" fmla="*/ 0 h 10"/>
                  <a:gd name="T4" fmla="*/ 295 w 295"/>
                  <a:gd name="T5" fmla="*/ 5 h 10"/>
                  <a:gd name="T6" fmla="*/ 295 w 295"/>
                  <a:gd name="T7" fmla="*/ 5 h 10"/>
                  <a:gd name="T8" fmla="*/ 290 w 295"/>
                  <a:gd name="T9" fmla="*/ 10 h 10"/>
                  <a:gd name="T10" fmla="*/ 5 w 295"/>
                  <a:gd name="T11" fmla="*/ 10 h 10"/>
                  <a:gd name="T12" fmla="*/ 0 w 295"/>
                  <a:gd name="T13" fmla="*/ 5 h 10"/>
                  <a:gd name="T14" fmla="*/ 0 w 295"/>
                  <a:gd name="T15" fmla="*/ 5 h 10"/>
                  <a:gd name="T16" fmla="*/ 5 w 295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0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0"/>
                      <a:pt x="290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2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9" name="íşliḓé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5364163" y="3128436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0" name="iSḻiďè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5364163" y="3477159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5 h 11"/>
                  <a:gd name="T6" fmla="*/ 295 w 295"/>
                  <a:gd name="T7" fmla="*/ 5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5 h 11"/>
                  <a:gd name="T14" fmla="*/ 0 w 295"/>
                  <a:gd name="T15" fmla="*/ 5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1" name="ï$ḻïḍè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5364163" y="4523323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2" name="íşľîḓé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5364163" y="4872043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3" name="íşliḓé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5364161" y="3825882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4" name="iSḻiďè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5364162" y="4174597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5 h 11"/>
                  <a:gd name="T6" fmla="*/ 295 w 295"/>
                  <a:gd name="T7" fmla="*/ 5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5 h 11"/>
                  <a:gd name="T14" fmla="*/ 0 w 295"/>
                  <a:gd name="T15" fmla="*/ 5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</p:grpSp>
        <p:pic>
          <p:nvPicPr>
            <p:cNvPr id="47" name="图片 46"/>
            <p:cNvPicPr/>
            <p:nvPr>
              <p:custDataLst>
                <p:tags r:id="rId30"/>
              </p:custDataLst>
            </p:nvPr>
          </p:nvPicPr>
          <p:blipFill>
            <a:blip r:embed="rId31" cstate="hq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025779" y="3503628"/>
              <a:ext cx="2170816" cy="2170812"/>
            </a:xfrm>
            <a:custGeom>
              <a:avLst/>
              <a:gdLst>
                <a:gd name="connsiteX0" fmla="*/ 1026607 w 2053214"/>
                <a:gd name="connsiteY0" fmla="*/ 0 h 2053210"/>
                <a:gd name="connsiteX1" fmla="*/ 2053214 w 2053214"/>
                <a:gd name="connsiteY1" fmla="*/ 1026605 h 2053210"/>
                <a:gd name="connsiteX2" fmla="*/ 1026607 w 2053214"/>
                <a:gd name="connsiteY2" fmla="*/ 2053210 h 2053210"/>
                <a:gd name="connsiteX3" fmla="*/ 0 w 2053214"/>
                <a:gd name="connsiteY3" fmla="*/ 1026605 h 2053210"/>
                <a:gd name="connsiteX4" fmla="*/ 1026607 w 2053214"/>
                <a:gd name="connsiteY4" fmla="*/ 0 h 205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214" h="2053210">
                  <a:moveTo>
                    <a:pt x="1026607" y="0"/>
                  </a:moveTo>
                  <a:cubicBezTo>
                    <a:pt x="1593586" y="0"/>
                    <a:pt x="2053214" y="459627"/>
                    <a:pt x="2053214" y="1026605"/>
                  </a:cubicBezTo>
                  <a:cubicBezTo>
                    <a:pt x="2053214" y="1593583"/>
                    <a:pt x="1593586" y="2053210"/>
                    <a:pt x="1026607" y="2053210"/>
                  </a:cubicBezTo>
                  <a:cubicBezTo>
                    <a:pt x="459628" y="2053210"/>
                    <a:pt x="0" y="1593583"/>
                    <a:pt x="0" y="1026605"/>
                  </a:cubicBezTo>
                  <a:cubicBezTo>
                    <a:pt x="0" y="459627"/>
                    <a:pt x="459628" y="0"/>
                    <a:pt x="1026607" y="0"/>
                  </a:cubicBezTo>
                  <a:close/>
                </a:path>
              </a:pathLst>
            </a:custGeom>
            <a:scene3d>
              <a:camera prst="perspectiveRelaxedModerately" fov="4200000"/>
              <a:lightRig rig="threePt" dir="t"/>
            </a:scene3d>
          </p:spPr>
        </p:pic>
      </p:grpSp>
      <p:sp>
        <p:nvSpPr>
          <p:cNvPr id="43" name="椭圆 42"/>
          <p:cNvSpPr/>
          <p:nvPr>
            <p:custDataLst>
              <p:tags r:id="rId32"/>
            </p:custDataLst>
          </p:nvPr>
        </p:nvSpPr>
        <p:spPr>
          <a:xfrm>
            <a:off x="4761322" y="3195718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4" name="椭圆 43"/>
          <p:cNvSpPr/>
          <p:nvPr>
            <p:custDataLst>
              <p:tags r:id="rId33"/>
            </p:custDataLst>
          </p:nvPr>
        </p:nvSpPr>
        <p:spPr>
          <a:xfrm>
            <a:off x="4598430" y="4477390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5" name="椭圆 44"/>
          <p:cNvSpPr/>
          <p:nvPr>
            <p:custDataLst>
              <p:tags r:id="rId34"/>
            </p:custDataLst>
          </p:nvPr>
        </p:nvSpPr>
        <p:spPr>
          <a:xfrm>
            <a:off x="7657326" y="5917236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6" name="椭圆 45"/>
          <p:cNvSpPr/>
          <p:nvPr>
            <p:custDataLst>
              <p:tags r:id="rId35"/>
            </p:custDataLst>
          </p:nvPr>
        </p:nvSpPr>
        <p:spPr>
          <a:xfrm>
            <a:off x="7428148" y="4064858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0" name="组合 9"/>
          <p:cNvGrpSpPr/>
          <p:nvPr>
            <p:custDataLst>
              <p:tags r:id="rId36"/>
            </p:custDataLst>
          </p:nvPr>
        </p:nvGrpSpPr>
        <p:grpSpPr>
          <a:xfrm>
            <a:off x="1548765" y="5567680"/>
            <a:ext cx="2948940" cy="371475"/>
            <a:chOff x="1017258" y="3196675"/>
            <a:chExt cx="3859542" cy="371187"/>
          </a:xfrm>
        </p:grpSpPr>
        <p:cxnSp>
          <p:nvCxnSpPr>
            <p:cNvPr id="48" name="直接连接符 47"/>
            <p:cNvCxnSpPr/>
            <p:nvPr>
              <p:custDataLst>
                <p:tags r:id="rId37"/>
              </p:custDataLst>
            </p:nvPr>
          </p:nvCxnSpPr>
          <p:spPr>
            <a:xfrm>
              <a:off x="1287258" y="3268675"/>
              <a:ext cx="0" cy="29918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>
              <p:custDataLst>
                <p:tags r:id="rId38"/>
              </p:custDataLst>
            </p:nvPr>
          </p:nvCxnSpPr>
          <p:spPr>
            <a:xfrm>
              <a:off x="1287258" y="3567862"/>
              <a:ext cx="358954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/>
            <p:cNvSpPr/>
            <p:nvPr>
              <p:custDataLst>
                <p:tags r:id="rId39"/>
              </p:custDataLst>
            </p:nvPr>
          </p:nvSpPr>
          <p:spPr>
            <a:xfrm>
              <a:off x="1017258" y="3196675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sp>
        <p:nvSpPr>
          <p:cNvPr id="4" name="椭圆 3"/>
          <p:cNvSpPr/>
          <p:nvPr>
            <p:custDataLst>
              <p:tags r:id="rId40"/>
            </p:custDataLst>
          </p:nvPr>
        </p:nvSpPr>
        <p:spPr>
          <a:xfrm>
            <a:off x="4418725" y="5876930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41"/>
            </p:custDataLst>
          </p:nvPr>
        </p:nvSpPr>
        <p:spPr>
          <a:xfrm>
            <a:off x="1360805" y="5080635"/>
            <a:ext cx="3058160" cy="3987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撰写研究报告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份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TABLE_ENDDRAG_ORIGIN_RECT" val="854*390"/>
  <p:tag name="TABLE_ENDDRAG_RECT" val="53*91*854*390"/>
</p:tagLst>
</file>

<file path=ppt/tags/tag67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68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69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0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1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2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3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4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5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6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7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8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79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80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81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82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83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84.xml><?xml version="1.0" encoding="utf-8"?>
<p:tagLst xmlns:p="http://schemas.openxmlformats.org/presentationml/2006/main">
  <p:tag name="KSO_WM_DIAGRAM_VIRTUALLY_FRAME" val="{&quot;height&quot;:354.65,&quot;left&quot;:10.9,&quot;top&quot;:189.5,&quot;width&quot;:959.55}"/>
</p:tagLst>
</file>

<file path=ppt/tags/tag85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86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87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88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89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90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91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92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93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94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95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96.xml><?xml version="1.0" encoding="utf-8"?>
<p:tagLst xmlns:p="http://schemas.openxmlformats.org/presentationml/2006/main">
  <p:tag name="KSO_WM_DIAGRAM_VIRTUALLY_FRAME" val="{&quot;height&quot;:231.24448818897636,&quot;left&quot;:49.051968503937005,&quot;top&quot;:250.23811023622048,&quot;width&quot;:875.4985826771654}"/>
</p:tagLst>
</file>

<file path=ppt/tags/tag97.xml><?xml version="1.0" encoding="utf-8"?>
<p:tagLst xmlns:p="http://schemas.openxmlformats.org/presentationml/2006/main">
  <p:tag name="KSO_WM_DIAGRAM_VIRTUALLY_FRAME" val="{&quot;height&quot;:333.46811023622047,&quot;left&quot;:62.116692913385826,&quot;top&quot;:120.80267716535434,&quot;width&quot;:835.7666141732283}"/>
</p:tagLst>
</file>

<file path=ppt/tags/tag98.xml><?xml version="1.0" encoding="utf-8"?>
<p:tagLst xmlns:p="http://schemas.openxmlformats.org/presentationml/2006/main">
  <p:tag name="KSO_WM_DIAGRAM_VIRTUALLY_FRAME" val="{&quot;height&quot;:333.46811023622047,&quot;left&quot;:62.116692913385826,&quot;top&quot;:120.80267716535434,&quot;width&quot;:835.7666141732283}"/>
</p:tagLst>
</file>

<file path=ppt/tags/tag99.xml><?xml version="1.0" encoding="utf-8"?>
<p:tagLst xmlns:p="http://schemas.openxmlformats.org/presentationml/2006/main">
  <p:tag name="KSO_WM_DIAGRAM_VIRTUALLY_FRAME" val="{&quot;height&quot;:333.46811023622047,&quot;left&quot;:62.116692913385826,&quot;top&quot;:120.80267716535434,&quot;width&quot;:835.7666141732283}"/>
</p:tagLst>
</file>

<file path=ppt/tags/tag100.xml><?xml version="1.0" encoding="utf-8"?>
<p:tagLst xmlns:p="http://schemas.openxmlformats.org/presentationml/2006/main">
  <p:tag name="KSO_WM_DIAGRAM_VIRTUALLY_FRAME" val="{&quot;height&quot;:333.46811023622047,&quot;left&quot;:62.116692913385826,&quot;top&quot;:120.80267716535434,&quot;width&quot;:835.7666141732283}"/>
</p:tagLst>
</file>

<file path=ppt/tags/tag101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02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03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04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05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06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07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08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09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0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1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2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3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4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5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6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7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8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19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0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1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2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3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4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5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6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7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8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29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0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1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2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3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4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5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6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7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8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39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ags/tag140.xml><?xml version="1.0" encoding="utf-8"?>
<p:tagLst xmlns:p="http://schemas.openxmlformats.org/presentationml/2006/main">
  <p:tag name="KSO_WM_DIAGRAM_VIRTUALLY_FRAME" val="{&quot;height&quot;:352.448188976378,&quot;left&quot;:52,&quot;top&quot;:145.47590551181102,&quot;width&quot;:85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</Words>
  <Application>WPS 演示</Application>
  <PresentationFormat>宽屏</PresentationFormat>
  <Paragraphs>126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Arial</vt:lpstr>
      <vt:lpstr>WPS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赵子辰</cp:lastModifiedBy>
  <cp:revision>156</cp:revision>
  <dcterms:created xsi:type="dcterms:W3CDTF">2019-06-19T02:08:00Z</dcterms:created>
  <dcterms:modified xsi:type="dcterms:W3CDTF">2025-04-10T09:57:03Z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CD2B6E7F799A411197BA987B894C5823_11</vt:lpwstr>
  </property>
</Properties>
</file>